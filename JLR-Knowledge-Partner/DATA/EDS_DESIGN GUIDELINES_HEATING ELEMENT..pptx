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5"/>
  </p:sldMasterIdLst>
  <p:notesMasterIdLst>
    <p:notesMasterId r:id="rId19"/>
  </p:notesMasterIdLst>
  <p:handoutMasterIdLst>
    <p:handoutMasterId r:id="rId20"/>
  </p:handoutMasterIdLst>
  <p:sldIdLst>
    <p:sldId id="342" r:id="rId6"/>
    <p:sldId id="386" r:id="rId7"/>
    <p:sldId id="371" r:id="rId8"/>
    <p:sldId id="372" r:id="rId9"/>
    <p:sldId id="374" r:id="rId10"/>
    <p:sldId id="375" r:id="rId11"/>
    <p:sldId id="376" r:id="rId12"/>
    <p:sldId id="377" r:id="rId13"/>
    <p:sldId id="378" r:id="rId14"/>
    <p:sldId id="373" r:id="rId15"/>
    <p:sldId id="382" r:id="rId16"/>
    <p:sldId id="379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2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30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4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7" algn="l" defTabSz="9143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0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320" userDrawn="1">
          <p15:clr>
            <a:srgbClr val="A4A3A4"/>
          </p15:clr>
        </p15:guide>
        <p15:guide id="6" orient="horz" pos="720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B3"/>
    <a:srgbClr val="5FEC70"/>
    <a:srgbClr val="C74EFF"/>
    <a:srgbClr val="797CBD"/>
    <a:srgbClr val="42E3E6"/>
    <a:srgbClr val="FF1F36"/>
    <a:srgbClr val="628BFF"/>
    <a:srgbClr val="E75400"/>
    <a:srgbClr val="FF9C00"/>
    <a:srgbClr val="350F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300"/>
        <p:guide pos="192"/>
        <p:guide pos="7469"/>
        <p:guide orient="horz" pos="4320"/>
        <p:guide orient="horz" pos="720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yshak P V" userId="e918ffa2-49b6-40c9-9078-ecafae2c603f" providerId="ADAL" clId="{B7A82DA3-D413-4948-B130-9FEE85C09D3A}"/>
    <pc:docChg chg="undo redo custSel addSld delSld modSld sldOrd">
      <pc:chgData name="Vyshak P V" userId="e918ffa2-49b6-40c9-9078-ecafae2c603f" providerId="ADAL" clId="{B7A82DA3-D413-4948-B130-9FEE85C09D3A}" dt="2026-01-08T08:57:36.978" v="1976" actId="1076"/>
      <pc:docMkLst>
        <pc:docMk/>
      </pc:docMkLst>
      <pc:sldChg chg="modSp add mod">
        <pc:chgData name="Vyshak P V" userId="e918ffa2-49b6-40c9-9078-ecafae2c603f" providerId="ADAL" clId="{B7A82DA3-D413-4948-B130-9FEE85C09D3A}" dt="2026-01-08T08:57:36.978" v="1976" actId="1076"/>
        <pc:sldMkLst>
          <pc:docMk/>
          <pc:sldMk cId="3111494314" sldId="386"/>
        </pc:sldMkLst>
        <pc:graphicFrameChg chg="mod modGraphic">
          <ac:chgData name="Vyshak P V" userId="e918ffa2-49b6-40c9-9078-ecafae2c603f" providerId="ADAL" clId="{B7A82DA3-D413-4948-B130-9FEE85C09D3A}" dt="2026-01-08T08:57:36.978" v="1976" actId="1076"/>
          <ac:graphicFrameMkLst>
            <pc:docMk/>
            <pc:sldMk cId="3111494314" sldId="386"/>
            <ac:graphicFrameMk id="3" creationId="{D6DBDB8A-D24B-7ECC-91C9-8CE70A5B9E9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193363-6FCC-722C-0A2B-64491A89AF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69BC5-0813-5DDF-264E-9B247818B3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1E399-66AE-584B-A751-EB6AD16560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88079-15B7-CA0B-042A-E6EE50F520C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A8237-78A9-BDF9-69A5-D417B7DD97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4BB62-9152-D14F-AC55-BE1A67BE6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018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049A5-8BAA-194A-B048-3B2766085FE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60511-9993-074B-8207-35CD91B8E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674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32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3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4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7" algn="l" defTabSz="91433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0511-9993-074B-8207-35CD91B8E3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31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0511-9993-074B-8207-35CD91B8E3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37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0511-9993-074B-8207-35CD91B8E3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76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0511-9993-074B-8207-35CD91B8E31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86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18" Type="http://schemas.openxmlformats.org/officeDocument/2006/relationships/hyperlink" Target="https://www.instagram.com/tatatechnologies/" TargetMode="External"/><Relationship Id="rId3" Type="http://schemas.openxmlformats.org/officeDocument/2006/relationships/image" Target="../media/image7.png"/><Relationship Id="rId21" Type="http://schemas.openxmlformats.org/officeDocument/2006/relationships/hyperlink" Target="https://www.facebook.com/TataTechnologies/" TargetMode="External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17" Type="http://schemas.openxmlformats.org/officeDocument/2006/relationships/hyperlink" Target="https://www.linkedin.com/company/tata-technologies" TargetMode="External"/><Relationship Id="rId2" Type="http://schemas.openxmlformats.org/officeDocument/2006/relationships/image" Target="../media/image6.png"/><Relationship Id="rId16" Type="http://schemas.openxmlformats.org/officeDocument/2006/relationships/hyperlink" Target="http://tatatechnologies.com/" TargetMode="External"/><Relationship Id="rId20" Type="http://schemas.openxmlformats.org/officeDocument/2006/relationships/hyperlink" Target="https://www.youtube.com/user/tatatechnologies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11" Type="http://schemas.openxmlformats.org/officeDocument/2006/relationships/image" Target="../media/image18.png"/><Relationship Id="rId5" Type="http://schemas.openxmlformats.org/officeDocument/2006/relationships/image" Target="../media/image9.png"/><Relationship Id="rId15" Type="http://schemas.openxmlformats.org/officeDocument/2006/relationships/image" Target="../media/image22.svg"/><Relationship Id="rId10" Type="http://schemas.openxmlformats.org/officeDocument/2006/relationships/image" Target="../media/image17.svg"/><Relationship Id="rId19" Type="http://schemas.openxmlformats.org/officeDocument/2006/relationships/hyperlink" Target="https://twitter.com/tatatech_news?s=11&amp;t=fgv6pWVIZCV4O0Z1gAQ2kQ" TargetMode="External"/><Relationship Id="rId4" Type="http://schemas.openxmlformats.org/officeDocument/2006/relationships/image" Target="../media/image8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543B039-69D0-2FE4-8325-30AD54A6565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BE153C13-7C39-0143-E8B4-E58FE15F2ABF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12">
              <a:extLst>
                <a:ext uri="{FF2B5EF4-FFF2-40B4-BE49-F238E27FC236}">
                  <a16:creationId xmlns:a16="http://schemas.microsoft.com/office/drawing/2014/main" id="{CAE4AD85-1AC3-CD92-D9D7-DB0815AA0644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13">
                <a:extLst>
                  <a:ext uri="{FF2B5EF4-FFF2-40B4-BE49-F238E27FC236}">
                    <a16:creationId xmlns:a16="http://schemas.microsoft.com/office/drawing/2014/main" id="{5FF36A7C-B53C-0583-598B-FC8C3E6A6F9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14">
                <a:extLst>
                  <a:ext uri="{FF2B5EF4-FFF2-40B4-BE49-F238E27FC236}">
                    <a16:creationId xmlns:a16="http://schemas.microsoft.com/office/drawing/2014/main" id="{BC3EDFDA-0133-AE5F-F23E-C69E884815CF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15">
                <a:extLst>
                  <a:ext uri="{FF2B5EF4-FFF2-40B4-BE49-F238E27FC236}">
                    <a16:creationId xmlns:a16="http://schemas.microsoft.com/office/drawing/2014/main" id="{EA6E9E1C-315D-339C-C783-CD59E6205B16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DDE7DD-8D05-9582-547C-E9A9E833BD53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6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 sz="700"/>
              <a:t>© Copyright 2025 Tata Technologies. All rights reserved. All other trademarks are trademarks of their respective owners.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361AAAF-7697-6B20-1044-B26A700DB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CF844E2-7DD3-5EFE-AE5E-81B0CFE5301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82F325-2D02-0411-8AE8-50578E38A92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itle Placeholder 21">
            <a:extLst>
              <a:ext uri="{FF2B5EF4-FFF2-40B4-BE49-F238E27FC236}">
                <a16:creationId xmlns:a16="http://schemas.microsoft.com/office/drawing/2014/main" id="{E15264E5-42CA-9E36-C725-56BBDC62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332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800" b="0" i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6BC073-828B-7A65-7060-227C228BD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553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utomotive Dark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30AD43-9C2E-9B38-4EF9-038EABEF0BF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C5E59C3-A8CA-C14E-9808-EB7D8818D781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F193E5A-AE8E-CA58-DCD1-41E0C76CCC9A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8">
              <a:extLst>
                <a:ext uri="{FF2B5EF4-FFF2-40B4-BE49-F238E27FC236}">
                  <a16:creationId xmlns:a16="http://schemas.microsoft.com/office/drawing/2014/main" id="{91EB92DB-A6B5-922D-37A6-DB0EB2E23F0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7EC74A92-B131-4B60-C82C-053C71ADC79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0">
                <a:extLst>
                  <a:ext uri="{FF2B5EF4-FFF2-40B4-BE49-F238E27FC236}">
                    <a16:creationId xmlns:a16="http://schemas.microsoft.com/office/drawing/2014/main" id="{CDF89E1F-0023-9515-BA64-C6E3069073BB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1">
                <a:extLst>
                  <a:ext uri="{FF2B5EF4-FFF2-40B4-BE49-F238E27FC236}">
                    <a16:creationId xmlns:a16="http://schemas.microsoft.com/office/drawing/2014/main" id="{C1C90675-0D4C-713B-E2D8-90402BF66DA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A7BF0FC5-516C-5F05-69E9-553792A748B7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2467B862-C5DC-3DA1-5928-409722F0AF1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FAA55E6C-4A99-2A35-A93E-7D7FB6AD70D3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5" name="object 25">
                <a:extLst>
                  <a:ext uri="{FF2B5EF4-FFF2-40B4-BE49-F238E27FC236}">
                    <a16:creationId xmlns:a16="http://schemas.microsoft.com/office/drawing/2014/main" id="{6AC2C530-E103-81C3-7066-0BE25AD312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6" name="object 26">
                <a:extLst>
                  <a:ext uri="{FF2B5EF4-FFF2-40B4-BE49-F238E27FC236}">
                    <a16:creationId xmlns:a16="http://schemas.microsoft.com/office/drawing/2014/main" id="{A0A9B4D5-A213-FAC5-6246-D06734809CA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96180B-0ED5-1053-C40B-70DC2018862F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2025 Tata Technologies. All rights reserved. All other trademarks are trademarks of their respective owners.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FD5FE8AB-FF44-D068-BF84-BC232F196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" y="6356352"/>
            <a:ext cx="491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372AAB-4B75-2F25-BC32-9F4A7112CF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14BDECA-09B2-0BFC-42C2-308F528457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2" name="Title Placeholder 21">
            <a:extLst>
              <a:ext uri="{FF2B5EF4-FFF2-40B4-BE49-F238E27FC236}">
                <a16:creationId xmlns:a16="http://schemas.microsoft.com/office/drawing/2014/main" id="{71AB19D1-BC5F-3C4B-EDD2-BC8539BC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rgbClr val="5EEC6F"/>
                </a:solidFill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B4D5BA-54B7-AC73-A1BC-4825B5D0E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776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Automotive Dark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3B6076B-D9C5-8F0E-BCDD-D843DDA947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34269" y="816888"/>
            <a:ext cx="6257731" cy="5177041"/>
          </a:xfrm>
          <a:custGeom>
            <a:avLst/>
            <a:gdLst>
              <a:gd name="connsiteX0" fmla="*/ 1805307 w 6055200"/>
              <a:gd name="connsiteY0" fmla="*/ 0 h 4744529"/>
              <a:gd name="connsiteX1" fmla="*/ 6055200 w 6055200"/>
              <a:gd name="connsiteY1" fmla="*/ 0 h 4744529"/>
              <a:gd name="connsiteX2" fmla="*/ 6055200 w 6055200"/>
              <a:gd name="connsiteY2" fmla="*/ 4744529 h 4744529"/>
              <a:gd name="connsiteX3" fmla="*/ 0 w 6055200"/>
              <a:gd name="connsiteY3" fmla="*/ 4744529 h 474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5200" h="4744529">
                <a:moveTo>
                  <a:pt x="1805307" y="0"/>
                </a:moveTo>
                <a:lnTo>
                  <a:pt x="6055200" y="0"/>
                </a:lnTo>
                <a:lnTo>
                  <a:pt x="6055200" y="4744529"/>
                </a:lnTo>
                <a:lnTo>
                  <a:pt x="0" y="474452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4FB13-A710-3604-1DFA-7EB16A1599DD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B25B4BF6-52E5-389C-804A-F07AE19AC3A0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461B9713-8B60-111C-CC58-694680C56E5C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8">
              <a:extLst>
                <a:ext uri="{FF2B5EF4-FFF2-40B4-BE49-F238E27FC236}">
                  <a16:creationId xmlns:a16="http://schemas.microsoft.com/office/drawing/2014/main" id="{AEF4C171-5B2C-20F6-F682-059D5043D14D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6" name="object 9">
                <a:extLst>
                  <a:ext uri="{FF2B5EF4-FFF2-40B4-BE49-F238E27FC236}">
                    <a16:creationId xmlns:a16="http://schemas.microsoft.com/office/drawing/2014/main" id="{4DBBD0F8-636E-924E-251F-1E750B7D6ECA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7" name="object 10">
                <a:extLst>
                  <a:ext uri="{FF2B5EF4-FFF2-40B4-BE49-F238E27FC236}">
                    <a16:creationId xmlns:a16="http://schemas.microsoft.com/office/drawing/2014/main" id="{32FE21A8-0292-E992-68A7-D493E81C6FA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9" name="object 11">
                <a:extLst>
                  <a:ext uri="{FF2B5EF4-FFF2-40B4-BE49-F238E27FC236}">
                    <a16:creationId xmlns:a16="http://schemas.microsoft.com/office/drawing/2014/main" id="{A8F8113F-F527-DF24-6F62-275E5BECDA8F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A3EB1A4C-0B99-1909-6DBD-1BE3C0FDE59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2" name="object 23">
              <a:extLst>
                <a:ext uri="{FF2B5EF4-FFF2-40B4-BE49-F238E27FC236}">
                  <a16:creationId xmlns:a16="http://schemas.microsoft.com/office/drawing/2014/main" id="{DF528001-5EB3-DE52-0785-82DFA8E56541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3" name="object 24">
                <a:extLst>
                  <a:ext uri="{FF2B5EF4-FFF2-40B4-BE49-F238E27FC236}">
                    <a16:creationId xmlns:a16="http://schemas.microsoft.com/office/drawing/2014/main" id="{B43A1203-EFD0-52EB-E965-58B41339FDC2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4" name="object 25">
                <a:extLst>
                  <a:ext uri="{FF2B5EF4-FFF2-40B4-BE49-F238E27FC236}">
                    <a16:creationId xmlns:a16="http://schemas.microsoft.com/office/drawing/2014/main" id="{EA8187B0-9D47-5A92-0663-7EAD561F4B20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5" name="object 26">
                <a:extLst>
                  <a:ext uri="{FF2B5EF4-FFF2-40B4-BE49-F238E27FC236}">
                    <a16:creationId xmlns:a16="http://schemas.microsoft.com/office/drawing/2014/main" id="{BF92E0E9-0288-3B16-4BCF-DD834E56811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0439E84-97CE-7951-71AF-552278CECA61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2025 Tata Technologies. All rights reserved. All other trademarks are trademarks of their respective owners.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EC7D47-3DF7-1D30-C3A9-A47CD4A022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655" y="2600329"/>
            <a:ext cx="5223495" cy="131758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rgbClr val="5EEC6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DBB593-2139-0F1C-4724-39791836795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F52FF77-E394-433B-DD8F-B8AD5CA9D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1FED1D0-7731-E5E8-681D-68F01AC9C6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4004398"/>
            <a:ext cx="4291843" cy="79363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C3DEFF-2C97-366F-154D-D468A4A6F8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653" y="4891599"/>
            <a:ext cx="4291843" cy="41406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Date or Document Version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983B14-4E7E-C5D8-BA72-28C53C6C8A9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62867" y="1145231"/>
            <a:ext cx="2120641" cy="83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72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6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omotive Separ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0B149E-6858-71E6-9F4B-5CF9CE345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403" y="2819757"/>
            <a:ext cx="4350335" cy="17208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Separator</a:t>
            </a: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945807-692A-1600-245C-85B412D88710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FE8252D3-76C6-954E-2C0A-65EEF6F46849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EA57E122-B272-0A88-984F-964418378C1F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8">
              <a:extLst>
                <a:ext uri="{FF2B5EF4-FFF2-40B4-BE49-F238E27FC236}">
                  <a16:creationId xmlns:a16="http://schemas.microsoft.com/office/drawing/2014/main" id="{028306A9-661C-3404-CF5B-6FBC5F44C34C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9">
                <a:extLst>
                  <a:ext uri="{FF2B5EF4-FFF2-40B4-BE49-F238E27FC236}">
                    <a16:creationId xmlns:a16="http://schemas.microsoft.com/office/drawing/2014/main" id="{02F69C2D-AE0D-2217-3C9C-5159FCC38284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0">
                <a:extLst>
                  <a:ext uri="{FF2B5EF4-FFF2-40B4-BE49-F238E27FC236}">
                    <a16:creationId xmlns:a16="http://schemas.microsoft.com/office/drawing/2014/main" id="{21505F9C-D02D-A3D4-E9DB-1206A8C3C78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1">
                <a:extLst>
                  <a:ext uri="{FF2B5EF4-FFF2-40B4-BE49-F238E27FC236}">
                    <a16:creationId xmlns:a16="http://schemas.microsoft.com/office/drawing/2014/main" id="{3CD5FC1C-7F9D-1E62-715B-6E31AD796965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83BF4D0F-CE14-9AC4-117D-CF805ED8B6BA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0" name="object 23">
              <a:extLst>
                <a:ext uri="{FF2B5EF4-FFF2-40B4-BE49-F238E27FC236}">
                  <a16:creationId xmlns:a16="http://schemas.microsoft.com/office/drawing/2014/main" id="{7EF3CE76-4E5E-65D3-B5BC-DB148DB55CAF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1" name="object 24">
                <a:extLst>
                  <a:ext uri="{FF2B5EF4-FFF2-40B4-BE49-F238E27FC236}">
                    <a16:creationId xmlns:a16="http://schemas.microsoft.com/office/drawing/2014/main" id="{62141BAA-CBDC-6AE2-4753-B610C908CBA7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2" name="object 25">
                <a:extLst>
                  <a:ext uri="{FF2B5EF4-FFF2-40B4-BE49-F238E27FC236}">
                    <a16:creationId xmlns:a16="http://schemas.microsoft.com/office/drawing/2014/main" id="{D040E6F7-D30E-79FA-F11F-49B5E8F2F134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3" name="object 26">
                <a:extLst>
                  <a:ext uri="{FF2B5EF4-FFF2-40B4-BE49-F238E27FC236}">
                    <a16:creationId xmlns:a16="http://schemas.microsoft.com/office/drawing/2014/main" id="{03017B78-8403-B42E-AC00-2235C5E29D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D3738DA-E1A3-951E-954E-52831689FC14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2025 Tata Technologies. All rights reserved. All other trademarks are trademarks of their respective owners.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B18A12-64EF-C999-98FF-5C256D331B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2A237FD-243E-F7DE-6A21-C0BFA5F3C9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D2DE003-0D9A-4995-1702-E3984259CE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7778" b="17841"/>
          <a:stretch/>
        </p:blipFill>
        <p:spPr>
          <a:xfrm>
            <a:off x="3206998" y="148040"/>
            <a:ext cx="7896353" cy="622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F6AB69-9B9D-D8F5-C7E2-821CA2ADC31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62867" y="1145231"/>
            <a:ext cx="2120641" cy="83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83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EFF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8F120E7E-F773-E7BC-D998-12FB871DE6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1EF069-B5B1-5375-790D-672448B8744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0F36DA8-9FED-76BB-4381-1FBFE3A27B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652" y="1794295"/>
            <a:ext cx="11709901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52774-4AE5-A349-6E94-A62029CCE0CB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6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 sz="700"/>
              <a:t>© Copyright 2025 Tata Technologies. All rights reserved. All other trademarks are trademarks of their respective owners.</a:t>
            </a:r>
          </a:p>
        </p:txBody>
      </p:sp>
    </p:spTree>
    <p:extLst>
      <p:ext uri="{BB962C8B-B14F-4D97-AF65-F5344CB8AC3E}">
        <p14:creationId xmlns:p14="http://schemas.microsoft.com/office/powerpoint/2010/main" val="3570300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A3324-CF26-0748-B4CF-963B702B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00C36E-23A3-A880-59DF-BC9A66F7F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9299" y="804351"/>
            <a:ext cx="6292400" cy="137708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rgbClr val="002B37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A5A69EF-2F3B-DFCB-5808-DFE7FC9E7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402" y="2342169"/>
            <a:ext cx="11672055" cy="3834795"/>
          </a:xfrm>
        </p:spPr>
        <p:txBody>
          <a:bodyPr numCol="4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9DDFE2-9038-836D-DA36-FAA59D5D34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54" y="849280"/>
            <a:ext cx="3222215" cy="135636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D51EC2-0C3E-D847-A05D-4AB70622EA52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29221EF7-6A51-8F7D-B564-929FB26C6D95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8" name="object 12">
              <a:extLst>
                <a:ext uri="{FF2B5EF4-FFF2-40B4-BE49-F238E27FC236}">
                  <a16:creationId xmlns:a16="http://schemas.microsoft.com/office/drawing/2014/main" id="{218582E0-2A5B-56D8-0C63-76593A0A51A3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EA476F20-B3D1-DC85-8A95-9A5505D7C3D1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0" name="object 14">
                <a:extLst>
                  <a:ext uri="{FF2B5EF4-FFF2-40B4-BE49-F238E27FC236}">
                    <a16:creationId xmlns:a16="http://schemas.microsoft.com/office/drawing/2014/main" id="{3582D895-C8C8-B690-AD9F-10B1629E86C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1" name="object 15">
                <a:extLst>
                  <a:ext uri="{FF2B5EF4-FFF2-40B4-BE49-F238E27FC236}">
                    <a16:creationId xmlns:a16="http://schemas.microsoft.com/office/drawing/2014/main" id="{D161E6C6-0726-A22E-7F8C-EBF4C37F083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FF5FD16D-E844-CD82-184C-14BE1CA751A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B49AD2-AA08-15DD-A5AF-499D676BE4A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E1468F-B399-C334-D20B-658F431C6742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2025 Tata Technologies. All rights reserved. All other trademarks are trademarks of their respective owners.</a:t>
            </a:r>
          </a:p>
        </p:txBody>
      </p:sp>
    </p:spTree>
    <p:extLst>
      <p:ext uri="{BB962C8B-B14F-4D97-AF65-F5344CB8AC3E}">
        <p14:creationId xmlns:p14="http://schemas.microsoft.com/office/powerpoint/2010/main" val="64350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rgbClr val="EFF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B7FC8-EE15-AEF0-1D58-CE9F1AEC3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58CDEAE-0597-06FC-ABED-A9C01545D0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D368A5-187B-6D30-1945-820656F673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" y="1811342"/>
            <a:ext cx="3675063" cy="43656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CA5432-E6C4-9E0E-4AE7-A5CAD48F4F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874EF4-1CF7-7897-D289-2ACFF353C02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6613F8F-3605-BDAD-82A2-772717016A50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23" name="object 12">
              <a:extLst>
                <a:ext uri="{FF2B5EF4-FFF2-40B4-BE49-F238E27FC236}">
                  <a16:creationId xmlns:a16="http://schemas.microsoft.com/office/drawing/2014/main" id="{D5DDB524-DC96-9CC5-5D30-5121EC25B0F7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24" name="object 13">
                <a:extLst>
                  <a:ext uri="{FF2B5EF4-FFF2-40B4-BE49-F238E27FC236}">
                    <a16:creationId xmlns:a16="http://schemas.microsoft.com/office/drawing/2014/main" id="{08685EC9-126E-7223-FB54-4682ABB8AF49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25" name="object 14">
                <a:extLst>
                  <a:ext uri="{FF2B5EF4-FFF2-40B4-BE49-F238E27FC236}">
                    <a16:creationId xmlns:a16="http://schemas.microsoft.com/office/drawing/2014/main" id="{638480FE-5064-365E-0764-1EDB515E42D2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26" name="object 15">
                <a:extLst>
                  <a:ext uri="{FF2B5EF4-FFF2-40B4-BE49-F238E27FC236}">
                    <a16:creationId xmlns:a16="http://schemas.microsoft.com/office/drawing/2014/main" id="{9EB73C38-AE3B-108A-9FC8-295E5E8C530C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70C8B42C-76E0-0B30-100F-2C7A111E30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5D11B3-A420-3B49-C9A4-6BA0ED4C293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DF18FE-20FC-F311-CC25-F8BC7E842BEC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2025 Tata Technologies. All rights reserved. All other trademarks are trademarks of their respective owners.</a:t>
            </a:r>
          </a:p>
        </p:txBody>
      </p:sp>
    </p:spTree>
    <p:extLst>
      <p:ext uri="{BB962C8B-B14F-4D97-AF65-F5344CB8AC3E}">
        <p14:creationId xmlns:p14="http://schemas.microsoft.com/office/powerpoint/2010/main" val="4192588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5BE10B0-7D06-3774-CE14-749E435E7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349" y="849279"/>
            <a:ext cx="11727203" cy="841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86191-9A58-B154-648C-603062C21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254999-0687-9882-5AD2-9787176AA3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53" y="1783836"/>
            <a:ext cx="3560323" cy="442752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rgbClr val="002B37"/>
                </a:solidFill>
              </a:defRPr>
            </a:lvl1pPr>
          </a:lstStyle>
          <a:p>
            <a:pPr lvl="0"/>
            <a:r>
              <a:rPr lang="en-GB"/>
              <a:t>Click here to edit subheading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CEC5A13-BD8A-5C44-99F9-90183704A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681" y="1794295"/>
            <a:ext cx="7818923" cy="4382668"/>
          </a:xfrm>
        </p:spPr>
        <p:txBody>
          <a:bodyPr numCol="2" spcCol="252000"/>
          <a:lstStyle>
            <a:lvl1pPr marL="285730" indent="-28573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here to edit content text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E911B2-5E5F-B0B6-39C1-E7365BD2CA74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0AD5596-5949-C51A-6A23-894B5E4D07CC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6" name="object 12">
              <a:extLst>
                <a:ext uri="{FF2B5EF4-FFF2-40B4-BE49-F238E27FC236}">
                  <a16:creationId xmlns:a16="http://schemas.microsoft.com/office/drawing/2014/main" id="{97B8DFC4-70D5-CDE7-7C15-B3E1270C90F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CE67B112-2CAF-83BE-F90B-6E34C006383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8" name="object 14">
                <a:extLst>
                  <a:ext uri="{FF2B5EF4-FFF2-40B4-BE49-F238E27FC236}">
                    <a16:creationId xmlns:a16="http://schemas.microsoft.com/office/drawing/2014/main" id="{71CFF4BE-368B-4E16-BD10-B17CDBB604F5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9" name="object 15">
                <a:extLst>
                  <a:ext uri="{FF2B5EF4-FFF2-40B4-BE49-F238E27FC236}">
                    <a16:creationId xmlns:a16="http://schemas.microsoft.com/office/drawing/2014/main" id="{F8F18842-BE90-BB91-20CA-6BA95DA8D919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ACDACD51-9515-C108-732D-2D3925E3D76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1444" y="6413853"/>
            <a:ext cx="2135345" cy="16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EE1AE6-4250-1EC1-7C1F-F4C43552D90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336B5F-6949-D907-2C56-D467C5AE481C}"/>
              </a:ext>
            </a:extLst>
          </p:cNvPr>
          <p:cNvSpPr txBox="1"/>
          <p:nvPr userDrawn="1"/>
        </p:nvSpPr>
        <p:spPr>
          <a:xfrm>
            <a:off x="437245" y="6373607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>
              <a:defRPr sz="700" spc="-20" baseline="0">
                <a:solidFill>
                  <a:schemeClr val="tx2"/>
                </a:solidFill>
                <a:effectLst/>
              </a:defRPr>
            </a:lvl1pPr>
          </a:lstStyle>
          <a:p>
            <a:pPr lvl="0"/>
            <a:r>
              <a:rPr lang="en-GB"/>
              <a:t>© Copyright 2025 Tata Technologies. All rights reserved. All other trademarks are trademarks of their respective owners.</a:t>
            </a:r>
          </a:p>
        </p:txBody>
      </p:sp>
    </p:spTree>
    <p:extLst>
      <p:ext uri="{BB962C8B-B14F-4D97-AF65-F5344CB8AC3E}">
        <p14:creationId xmlns:p14="http://schemas.microsoft.com/office/powerpoint/2010/main" val="351108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2E4E5D-C822-2EBA-AF22-2AEE010CC154}"/>
              </a:ext>
            </a:extLst>
          </p:cNvPr>
          <p:cNvGrpSpPr/>
          <p:nvPr userDrawn="1"/>
        </p:nvGrpSpPr>
        <p:grpSpPr>
          <a:xfrm>
            <a:off x="11084200" y="316628"/>
            <a:ext cx="761725" cy="157981"/>
            <a:chOff x="9242701" y="249950"/>
            <a:chExt cx="652960" cy="135423"/>
          </a:xfrm>
        </p:grpSpPr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F5A0F20E-7471-B72F-242E-62B531EBBA02}"/>
                </a:ext>
              </a:extLst>
            </p:cNvPr>
            <p:cNvSpPr/>
            <p:nvPr/>
          </p:nvSpPr>
          <p:spPr>
            <a:xfrm>
              <a:off x="9571215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04" y="0"/>
                  </a:moveTo>
                  <a:lnTo>
                    <a:pt x="77442" y="0"/>
                  </a:lnTo>
                  <a:lnTo>
                    <a:pt x="0" y="203229"/>
                  </a:lnTo>
                  <a:lnTo>
                    <a:pt x="78353" y="203229"/>
                  </a:lnTo>
                  <a:lnTo>
                    <a:pt x="12027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0FA289AB-5950-69E5-7E38-BD63CD501E91}"/>
                </a:ext>
              </a:extLst>
            </p:cNvPr>
            <p:cNvSpPr/>
            <p:nvPr/>
          </p:nvSpPr>
          <p:spPr>
            <a:xfrm>
              <a:off x="9772920" y="268829"/>
              <a:ext cx="122588" cy="103011"/>
            </a:xfrm>
            <a:custGeom>
              <a:avLst/>
              <a:gdLst/>
              <a:ahLst/>
              <a:cxnLst/>
              <a:rect l="l" t="t" r="r" b="b"/>
              <a:pathLst>
                <a:path w="242569" h="203834">
                  <a:moveTo>
                    <a:pt x="163125" y="0"/>
                  </a:moveTo>
                  <a:lnTo>
                    <a:pt x="77453" y="0"/>
                  </a:lnTo>
                  <a:lnTo>
                    <a:pt x="0" y="203229"/>
                  </a:lnTo>
                  <a:lnTo>
                    <a:pt x="79285" y="203229"/>
                  </a:lnTo>
                  <a:lnTo>
                    <a:pt x="120289" y="82018"/>
                  </a:lnTo>
                  <a:lnTo>
                    <a:pt x="162194" y="203229"/>
                  </a:lnTo>
                  <a:lnTo>
                    <a:pt x="242390" y="203229"/>
                  </a:lnTo>
                  <a:lnTo>
                    <a:pt x="163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0" name="object 8">
              <a:extLst>
                <a:ext uri="{FF2B5EF4-FFF2-40B4-BE49-F238E27FC236}">
                  <a16:creationId xmlns:a16="http://schemas.microsoft.com/office/drawing/2014/main" id="{CB03E7B7-4899-9258-ACC1-BF186B9180B6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87FADE85-A416-FC74-7EB3-B815C06B9220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7" name="object 10">
                <a:extLst>
                  <a:ext uri="{FF2B5EF4-FFF2-40B4-BE49-F238E27FC236}">
                    <a16:creationId xmlns:a16="http://schemas.microsoft.com/office/drawing/2014/main" id="{6652C85E-10AB-F076-C344-1B1811E88CA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8" name="object 11">
                <a:extLst>
                  <a:ext uri="{FF2B5EF4-FFF2-40B4-BE49-F238E27FC236}">
                    <a16:creationId xmlns:a16="http://schemas.microsoft.com/office/drawing/2014/main" id="{430224B0-A0D4-0745-0A0A-F95198FAD892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  <p:sp>
          <p:nvSpPr>
            <p:cNvPr id="41" name="object 22">
              <a:extLst>
                <a:ext uri="{FF2B5EF4-FFF2-40B4-BE49-F238E27FC236}">
                  <a16:creationId xmlns:a16="http://schemas.microsoft.com/office/drawing/2014/main" id="{8826A970-02DC-C41C-A705-05879B32AE33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42" name="object 23">
              <a:extLst>
                <a:ext uri="{FF2B5EF4-FFF2-40B4-BE49-F238E27FC236}">
                  <a16:creationId xmlns:a16="http://schemas.microsoft.com/office/drawing/2014/main" id="{37D147A8-D3E3-B4B6-EDBB-19B01B294B22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43" name="object 24">
                <a:extLst>
                  <a:ext uri="{FF2B5EF4-FFF2-40B4-BE49-F238E27FC236}">
                    <a16:creationId xmlns:a16="http://schemas.microsoft.com/office/drawing/2014/main" id="{112D2006-19F3-7134-0287-D1CCD0E61AA6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44" name="object 25">
                <a:extLst>
                  <a:ext uri="{FF2B5EF4-FFF2-40B4-BE49-F238E27FC236}">
                    <a16:creationId xmlns:a16="http://schemas.microsoft.com/office/drawing/2014/main" id="{CFF13B7E-B12D-6EFA-970E-24B4B87CA339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45" name="object 26">
                <a:extLst>
                  <a:ext uri="{FF2B5EF4-FFF2-40B4-BE49-F238E27FC236}">
                    <a16:creationId xmlns:a16="http://schemas.microsoft.com/office/drawing/2014/main" id="{1CDE3C13-1150-B6C6-1277-D870DCCDD718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3F6EF5E-0034-969A-562B-6DE58C861065}"/>
              </a:ext>
            </a:extLst>
          </p:cNvPr>
          <p:cNvSpPr txBox="1"/>
          <p:nvPr userDrawn="1"/>
        </p:nvSpPr>
        <p:spPr>
          <a:xfrm>
            <a:off x="437245" y="6373607"/>
            <a:ext cx="60988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spc="-20" baseline="0">
                <a:solidFill>
                  <a:srgbClr val="FFFFFF"/>
                </a:solidFill>
                <a:effectLst/>
              </a:rPr>
              <a:t>© Copyright 2025 Tata Technologies. All rights reserved. All other trademarks are trademarks of their respective owners.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EF29E6-1834-CC89-E241-4A65B6C2A81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03" y="333376"/>
            <a:ext cx="1775655" cy="12618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589384E-9CF1-3065-EDEC-92FA446AB0D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3997" y="6408073"/>
            <a:ext cx="2135347" cy="16897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3EC1276-B7F0-31B0-2AAD-98EC830BA66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7406" y="-659272"/>
            <a:ext cx="4565654" cy="7068864"/>
          </a:xfrm>
          <a:prstGeom prst="rect">
            <a:avLst/>
          </a:prstGeom>
        </p:spPr>
      </p:pic>
      <p:sp>
        <p:nvSpPr>
          <p:cNvPr id="12" name="object 7">
            <a:extLst>
              <a:ext uri="{FF2B5EF4-FFF2-40B4-BE49-F238E27FC236}">
                <a16:creationId xmlns:a16="http://schemas.microsoft.com/office/drawing/2014/main" id="{8238491F-4B4D-B12D-1C99-B82C5A4490F4}"/>
              </a:ext>
            </a:extLst>
          </p:cNvPr>
          <p:cNvSpPr txBox="1"/>
          <p:nvPr userDrawn="1"/>
        </p:nvSpPr>
        <p:spPr>
          <a:xfrm>
            <a:off x="9345454" y="991815"/>
            <a:ext cx="2233747" cy="1739582"/>
          </a:xfrm>
          <a:prstGeom prst="rect">
            <a:avLst/>
          </a:prstGeom>
        </p:spPr>
        <p:txBody>
          <a:bodyPr vert="horz" wrap="square" lIns="0" tIns="6099" rIns="0" bIns="0" rtlCol="0">
            <a:spAutoFit/>
          </a:bodyPr>
          <a:lstStyle/>
          <a:p>
            <a:pPr marL="198294" marR="577236">
              <a:lnSpc>
                <a:spcPct val="150000"/>
              </a:lnSpc>
              <a:spcBef>
                <a:spcPts val="48"/>
              </a:spcBef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lang="en-IN" sz="1100" spc="-7">
                <a:solidFill>
                  <a:srgbClr val="FFFFFF"/>
                </a:solidFill>
                <a:latin typeface="DM Sans"/>
                <a:cs typeface="DM Sans"/>
              </a:rPr>
              <a:t>@t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TataTech_News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br>
              <a:rPr lang="en-GB" sz="1100" spc="0">
                <a:solidFill>
                  <a:schemeClr val="tx1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/</a:t>
            </a: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TataTechnologies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50000"/>
              </a:lnSpc>
              <a:spcBef>
                <a:spcPts val="959"/>
              </a:spcBef>
            </a:pPr>
            <a:r>
              <a:rPr sz="1600" spc="-7" err="1">
                <a:solidFill>
                  <a:srgbClr val="5FEC70"/>
                </a:solidFill>
                <a:latin typeface="DM Sans"/>
                <a:cs typeface="DM Sans"/>
              </a:rPr>
              <a:t>tatatechnologies.com</a:t>
            </a:r>
            <a:endParaRPr sz="1600">
              <a:solidFill>
                <a:srgbClr val="5FEC70"/>
              </a:solidFill>
              <a:latin typeface="DM Sans"/>
              <a:cs typeface="DM San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5FC514E-FDB3-1D32-F4EB-C8B45A6EE653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53105" y="1091858"/>
            <a:ext cx="132408" cy="13240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CD50794-D38F-C077-79AB-1F3FC6A3297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44278" y="2072869"/>
            <a:ext cx="146107" cy="13697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744E6BE-B447-2798-AE7B-6CAC23EF49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480"/>
          <a:stretch/>
        </p:blipFill>
        <p:spPr>
          <a:xfrm>
            <a:off x="9336129" y="1842353"/>
            <a:ext cx="166369" cy="113863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C01B34F5-FF72-7A04-6A38-4917CE7D601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53105" y="1345563"/>
            <a:ext cx="132408" cy="132408"/>
          </a:xfrm>
          <a:prstGeom prst="rect">
            <a:avLst/>
          </a:prstGeom>
        </p:spPr>
      </p:pic>
      <p:sp>
        <p:nvSpPr>
          <p:cNvPr id="32" name="Rectangle 31">
            <a:hlinkClick r:id="rId16"/>
            <a:extLst>
              <a:ext uri="{FF2B5EF4-FFF2-40B4-BE49-F238E27FC236}">
                <a16:creationId xmlns:a16="http://schemas.microsoft.com/office/drawing/2014/main" id="{5EA77DC7-11F2-4D10-B62A-5855CFB89E8E}"/>
              </a:ext>
            </a:extLst>
          </p:cNvPr>
          <p:cNvSpPr/>
          <p:nvPr userDrawn="1"/>
        </p:nvSpPr>
        <p:spPr>
          <a:xfrm>
            <a:off x="9294798" y="2464824"/>
            <a:ext cx="2156931" cy="26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4" name="Rectangle 33">
            <a:hlinkClick r:id="rId17"/>
            <a:extLst>
              <a:ext uri="{FF2B5EF4-FFF2-40B4-BE49-F238E27FC236}">
                <a16:creationId xmlns:a16="http://schemas.microsoft.com/office/drawing/2014/main" id="{8463C6C4-6091-76BD-CD40-9677ED17EC11}"/>
              </a:ext>
            </a:extLst>
          </p:cNvPr>
          <p:cNvSpPr/>
          <p:nvPr userDrawn="1"/>
        </p:nvSpPr>
        <p:spPr>
          <a:xfrm>
            <a:off x="9304945" y="105907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5" name="Rectangle 34">
            <a:hlinkClick r:id="rId18"/>
            <a:extLst>
              <a:ext uri="{FF2B5EF4-FFF2-40B4-BE49-F238E27FC236}">
                <a16:creationId xmlns:a16="http://schemas.microsoft.com/office/drawing/2014/main" id="{648F59CE-D2F9-4775-F65B-C144EDE9FC6B}"/>
              </a:ext>
            </a:extLst>
          </p:cNvPr>
          <p:cNvSpPr/>
          <p:nvPr userDrawn="1"/>
        </p:nvSpPr>
        <p:spPr>
          <a:xfrm>
            <a:off x="9304945" y="132818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6" name="Rectangle 35">
            <a:hlinkClick r:id="rId19"/>
            <a:extLst>
              <a:ext uri="{FF2B5EF4-FFF2-40B4-BE49-F238E27FC236}">
                <a16:creationId xmlns:a16="http://schemas.microsoft.com/office/drawing/2014/main" id="{FBBC1CD0-3889-3409-4DA8-3A250D34D6FD}"/>
              </a:ext>
            </a:extLst>
          </p:cNvPr>
          <p:cNvSpPr/>
          <p:nvPr userDrawn="1"/>
        </p:nvSpPr>
        <p:spPr>
          <a:xfrm>
            <a:off x="9304945" y="1552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9" name="Rectangle 48">
            <a:hlinkClick r:id="rId20"/>
            <a:extLst>
              <a:ext uri="{FF2B5EF4-FFF2-40B4-BE49-F238E27FC236}">
                <a16:creationId xmlns:a16="http://schemas.microsoft.com/office/drawing/2014/main" id="{70583E55-C496-02C0-1B1B-CE59B93AF3D7}"/>
              </a:ext>
            </a:extLst>
          </p:cNvPr>
          <p:cNvSpPr/>
          <p:nvPr userDrawn="1"/>
        </p:nvSpPr>
        <p:spPr>
          <a:xfrm>
            <a:off x="9304945" y="1806561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0" name="Rectangle 49">
            <a:hlinkClick r:id="rId21"/>
            <a:extLst>
              <a:ext uri="{FF2B5EF4-FFF2-40B4-BE49-F238E27FC236}">
                <a16:creationId xmlns:a16="http://schemas.microsoft.com/office/drawing/2014/main" id="{E60F3F03-1133-51A6-6BD0-2E5B3FFD0B02}"/>
              </a:ext>
            </a:extLst>
          </p:cNvPr>
          <p:cNvSpPr/>
          <p:nvPr userDrawn="1"/>
        </p:nvSpPr>
        <p:spPr>
          <a:xfrm>
            <a:off x="9304945" y="2053305"/>
            <a:ext cx="1496841" cy="172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1" name="object 4">
            <a:extLst>
              <a:ext uri="{FF2B5EF4-FFF2-40B4-BE49-F238E27FC236}">
                <a16:creationId xmlns:a16="http://schemas.microsoft.com/office/drawing/2014/main" id="{C1A3A50A-6121-BB66-DFA6-23BE9E32BDEF}"/>
              </a:ext>
            </a:extLst>
          </p:cNvPr>
          <p:cNvSpPr txBox="1"/>
          <p:nvPr userDrawn="1"/>
        </p:nvSpPr>
        <p:spPr>
          <a:xfrm>
            <a:off x="9345454" y="4735906"/>
            <a:ext cx="2530448" cy="1183610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b="1" spc="0">
                <a:solidFill>
                  <a:srgbClr val="5FEC70"/>
                </a:solidFill>
                <a:latin typeface="DMSans-Medium"/>
                <a:cs typeface="DMSans-Medium"/>
              </a:rPr>
              <a:t>COPYRIGHT NOTICE</a:t>
            </a:r>
          </a:p>
          <a:p>
            <a:pPr marL="6419">
              <a:lnSpc>
                <a:spcPts val="1080"/>
              </a:lnSpc>
              <a:spcBef>
                <a:spcPts val="248"/>
              </a:spcBef>
            </a:pPr>
            <a:r>
              <a:rPr lang="en-IN" sz="900" spc="0">
                <a:solidFill>
                  <a:schemeClr val="bg1"/>
                </a:solidFill>
                <a:latin typeface="+mn-lt"/>
                <a:cs typeface="DMSans-Medium"/>
              </a:rPr>
              <a:t>All information/content contained herein is the sole property of Tata Technologies Limited or its Licensors. No intellectual property rights are granted by disclosure of its content. The information/content shall not be reproduced or disclosed to a third party without the express written consent of Tata Technologies Limited.</a:t>
            </a:r>
            <a:endParaRPr lang="en-IN" sz="900" spc="0">
              <a:solidFill>
                <a:schemeClr val="bg1"/>
              </a:solidFill>
              <a:latin typeface="+mn-lt"/>
              <a:cs typeface="DM Sans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43FDF41-05EA-EB25-FE6C-62681531B077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9349122" y="1574199"/>
            <a:ext cx="136391" cy="139259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C0E1E347-92C9-DCB3-73FA-4B4B6F553E8E}"/>
              </a:ext>
            </a:extLst>
          </p:cNvPr>
          <p:cNvSpPr txBox="1"/>
          <p:nvPr userDrawn="1"/>
        </p:nvSpPr>
        <p:spPr>
          <a:xfrm>
            <a:off x="323648" y="1005911"/>
            <a:ext cx="2467781" cy="1265748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1">
                <a:solidFill>
                  <a:srgbClr val="5FEC70"/>
                </a:solidFill>
                <a:latin typeface="DMSans-Medium"/>
                <a:cs typeface="DMSans-Medium"/>
              </a:rPr>
              <a:t>ASIA</a:t>
            </a:r>
            <a:r>
              <a:rPr sz="1100" spc="223">
                <a:solidFill>
                  <a:srgbClr val="5FEC70"/>
                </a:solidFill>
                <a:latin typeface="DMSans-Medium"/>
                <a:cs typeface="DMSans-Medium"/>
              </a:rPr>
              <a:t> </a:t>
            </a:r>
            <a:r>
              <a:rPr sz="1100" spc="71">
                <a:solidFill>
                  <a:srgbClr val="5FEC70"/>
                </a:solidFill>
                <a:latin typeface="DMSans-Medium"/>
                <a:cs typeface="DMSans-Medium"/>
              </a:rPr>
              <a:t>PACIFIC </a:t>
            </a:r>
            <a:endParaRPr sz="1100">
              <a:solidFill>
                <a:srgbClr val="5FEC70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25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Rajiv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Gandhi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Infotech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err="1">
                <a:solidFill>
                  <a:srgbClr val="FFFFFF"/>
                </a:solidFill>
                <a:latin typeface="DM Sans"/>
                <a:cs typeface="DM Sans"/>
              </a:rPr>
              <a:t>Hinjawadi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,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Pune</a:t>
            </a:r>
            <a:endParaRPr sz="1100">
              <a:latin typeface="DM Sans"/>
              <a:cs typeface="DM Sans"/>
            </a:endParaRPr>
          </a:p>
          <a:p>
            <a:pPr marL="6419" marR="1210942">
              <a:lnSpc>
                <a:spcPct val="120000"/>
              </a:lnSpc>
            </a:pP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India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411057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+91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20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6652</a:t>
            </a:r>
            <a:r>
              <a:rPr sz="1100" spc="-2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9090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561A9C3-FF6C-DAA2-F718-72953E7C3605}"/>
              </a:ext>
            </a:extLst>
          </p:cNvPr>
          <p:cNvSpPr txBox="1"/>
          <p:nvPr userDrawn="1"/>
        </p:nvSpPr>
        <p:spPr>
          <a:xfrm>
            <a:off x="323650" y="2636627"/>
            <a:ext cx="3097129" cy="1672013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3">
                <a:solidFill>
                  <a:srgbClr val="5FEC70"/>
                </a:solidFill>
                <a:latin typeface="DMSans-Medium"/>
                <a:cs typeface="DMSans-Medium"/>
              </a:rPr>
              <a:t>EUROPE </a:t>
            </a:r>
            <a:endParaRPr sz="1100">
              <a:solidFill>
                <a:srgbClr val="5FEC70"/>
              </a:solidFill>
              <a:latin typeface="DMSans-Medium"/>
              <a:cs typeface="DMSans-Medium"/>
            </a:endParaRPr>
          </a:p>
          <a:p>
            <a:pPr marL="6419" marR="2567">
              <a:lnSpc>
                <a:spcPct val="120000"/>
              </a:lnSpc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European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Innovation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Development</a:t>
            </a:r>
            <a:r>
              <a:rPr sz="1100" spc="-33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Centre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(E</a:t>
            </a:r>
            <a:r>
              <a:rPr lang="en-US" sz="1100" spc="-7">
                <a:solidFill>
                  <a:srgbClr val="FFFFFF"/>
                </a:solidFill>
                <a:latin typeface="DM Sans"/>
                <a:cs typeface="DM Sans"/>
              </a:rPr>
              <a:t>I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DC)</a:t>
            </a:r>
            <a:br>
              <a:rPr lang="en-GB" sz="1100" spc="-7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Olympus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737668">
              <a:lnSpc>
                <a:spcPct val="120000"/>
              </a:lnSpc>
            </a:pPr>
            <a:r>
              <a:rPr sz="1100" spc="-7" err="1">
                <a:solidFill>
                  <a:srgbClr val="FFFFFF"/>
                </a:solidFill>
                <a:latin typeface="DM Sans"/>
                <a:cs typeface="DM Sans"/>
              </a:rPr>
              <a:t>Tachbrook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Park</a:t>
            </a:r>
            <a:br>
              <a:rPr lang="en-GB" sz="1100" spc="-11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Warwick,</a:t>
            </a:r>
            <a:r>
              <a:rPr sz="1100" spc="-47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UK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CV34</a:t>
            </a:r>
            <a:r>
              <a:rPr sz="1100" spc="-1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6RJ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3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+44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(0)</a:t>
            </a:r>
            <a:r>
              <a:rPr sz="1100" spc="-31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8443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759</a:t>
            </a:r>
            <a:r>
              <a:rPr sz="1100" spc="-28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685</a:t>
            </a:r>
            <a:endParaRPr sz="1100">
              <a:latin typeface="DM Sans"/>
              <a:cs typeface="DM San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D64A3D9-EB07-F441-E6E5-DB6969D5C95C}"/>
              </a:ext>
            </a:extLst>
          </p:cNvPr>
          <p:cNvSpPr txBox="1"/>
          <p:nvPr userDrawn="1"/>
        </p:nvSpPr>
        <p:spPr>
          <a:xfrm>
            <a:off x="323319" y="4673608"/>
            <a:ext cx="2295732" cy="1291396"/>
          </a:xfrm>
          <a:prstGeom prst="rect">
            <a:avLst/>
          </a:prstGeom>
        </p:spPr>
        <p:txBody>
          <a:bodyPr vert="horz" wrap="square" lIns="0" tIns="31449" rIns="0" bIns="0" rtlCol="0">
            <a:spAutoFit/>
          </a:bodyPr>
          <a:lstStyle/>
          <a:p>
            <a:pPr marL="6419">
              <a:lnSpc>
                <a:spcPct val="120000"/>
              </a:lnSpc>
              <a:spcBef>
                <a:spcPts val="248"/>
              </a:spcBef>
            </a:pPr>
            <a:r>
              <a:rPr sz="1100" spc="87">
                <a:solidFill>
                  <a:srgbClr val="5FEC70"/>
                </a:solidFill>
                <a:latin typeface="DMSans-Medium"/>
                <a:cs typeface="DMSans-Medium"/>
              </a:rPr>
              <a:t>NORTH</a:t>
            </a:r>
            <a:r>
              <a:rPr sz="1100" spc="219">
                <a:solidFill>
                  <a:srgbClr val="5FEC70"/>
                </a:solidFill>
                <a:latin typeface="DMSans-Medium"/>
                <a:cs typeface="DMSans-Medium"/>
              </a:rPr>
              <a:t> </a:t>
            </a:r>
            <a:r>
              <a:rPr sz="1100" spc="87">
                <a:solidFill>
                  <a:srgbClr val="5FEC70"/>
                </a:solidFill>
                <a:latin typeface="DMSans-Medium"/>
                <a:cs typeface="DMSans-Medium"/>
              </a:rPr>
              <a:t>AMERICA</a:t>
            </a:r>
            <a:endParaRPr sz="1100">
              <a:solidFill>
                <a:srgbClr val="5FEC70"/>
              </a:solidFill>
              <a:latin typeface="DMSans-Medium"/>
              <a:cs typeface="DMSans-Medium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6001 Cass </a:t>
            </a:r>
            <a:r>
              <a:rPr sz="1100" spc="-7">
                <a:solidFill>
                  <a:srgbClr val="FFFFFF"/>
                </a:solidFill>
                <a:latin typeface="DM Sans"/>
                <a:cs typeface="DM Sans"/>
              </a:rPr>
              <a:t>Avenue</a:t>
            </a:r>
            <a:endParaRPr sz="1100">
              <a:latin typeface="DM Sans"/>
              <a:cs typeface="DM Sans"/>
            </a:endParaRPr>
          </a:p>
          <a:p>
            <a:pPr marL="6419" marR="497981">
              <a:lnSpc>
                <a:spcPct val="120000"/>
              </a:lnSpc>
              <a:spcBef>
                <a:spcPts val="3"/>
              </a:spcBef>
            </a:pP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Suite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600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Detroit</a:t>
            </a:r>
            <a:r>
              <a:rPr sz="1100" spc="-3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2">
                <a:solidFill>
                  <a:srgbClr val="FFFFFF"/>
                </a:solidFill>
                <a:latin typeface="DM Sans"/>
                <a:cs typeface="DM Sans"/>
              </a:rPr>
              <a:t>MI</a:t>
            </a:r>
            <a:br>
              <a:rPr lang="en-GB" sz="1100" spc="-12">
                <a:solidFill>
                  <a:srgbClr val="FFFFFF"/>
                </a:solidFill>
                <a:latin typeface="DM Sans"/>
                <a:cs typeface="DM Sans"/>
              </a:rPr>
            </a:b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USA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48202</a:t>
            </a:r>
            <a:endParaRPr sz="1100">
              <a:latin typeface="DM Sans"/>
              <a:cs typeface="DM Sans"/>
            </a:endParaRPr>
          </a:p>
          <a:p>
            <a:pPr marL="6419">
              <a:lnSpc>
                <a:spcPct val="120000"/>
              </a:lnSpc>
              <a:spcBef>
                <a:spcPts val="200"/>
              </a:spcBef>
            </a:pP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Tel: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+1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248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>
                <a:solidFill>
                  <a:srgbClr val="FFFFFF"/>
                </a:solidFill>
                <a:latin typeface="DM Sans"/>
                <a:cs typeface="DM Sans"/>
              </a:rPr>
              <a:t>426</a:t>
            </a:r>
            <a:r>
              <a:rPr sz="1100" spc="-16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100" spc="-11">
                <a:solidFill>
                  <a:srgbClr val="FFFFFF"/>
                </a:solidFill>
                <a:latin typeface="DM Sans"/>
                <a:cs typeface="DM Sans"/>
              </a:rPr>
              <a:t>1482</a:t>
            </a:r>
            <a:endParaRPr sz="1100">
              <a:latin typeface="DM Sans"/>
              <a:cs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805958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435E51-844A-2141-B90B-A70DBBCD4586}"/>
              </a:ext>
            </a:extLst>
          </p:cNvPr>
          <p:cNvGrpSpPr/>
          <p:nvPr userDrawn="1"/>
        </p:nvGrpSpPr>
        <p:grpSpPr>
          <a:xfrm>
            <a:off x="11084202" y="316459"/>
            <a:ext cx="761727" cy="157980"/>
            <a:chOff x="9242701" y="249950"/>
            <a:chExt cx="652960" cy="135423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81BD2E13-45B4-E949-3723-6356489E16A1}"/>
                </a:ext>
              </a:extLst>
            </p:cNvPr>
            <p:cNvSpPr/>
            <p:nvPr/>
          </p:nvSpPr>
          <p:spPr>
            <a:xfrm>
              <a:off x="9482330" y="268829"/>
              <a:ext cx="413331" cy="103011"/>
            </a:xfrm>
            <a:custGeom>
              <a:avLst/>
              <a:gdLst/>
              <a:ahLst/>
              <a:cxnLst/>
              <a:rect l="l" t="t" r="r" b="b"/>
              <a:pathLst>
                <a:path w="817880" h="203834">
                  <a:moveTo>
                    <a:pt x="19682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58305" y="59690"/>
                  </a:lnTo>
                  <a:lnTo>
                    <a:pt x="58305" y="203200"/>
                  </a:lnTo>
                  <a:lnTo>
                    <a:pt x="140322" y="203200"/>
                  </a:lnTo>
                  <a:lnTo>
                    <a:pt x="140322" y="59690"/>
                  </a:lnTo>
                  <a:lnTo>
                    <a:pt x="196824" y="59690"/>
                  </a:lnTo>
                  <a:lnTo>
                    <a:pt x="196824" y="0"/>
                  </a:lnTo>
                  <a:close/>
                </a:path>
                <a:path w="817880" h="203834">
                  <a:moveTo>
                    <a:pt x="418261" y="203238"/>
                  </a:moveTo>
                  <a:lnTo>
                    <a:pt x="338988" y="12"/>
                  </a:lnTo>
                  <a:lnTo>
                    <a:pt x="253314" y="12"/>
                  </a:lnTo>
                  <a:lnTo>
                    <a:pt x="175882" y="203238"/>
                  </a:lnTo>
                  <a:lnTo>
                    <a:pt x="254228" y="203238"/>
                  </a:lnTo>
                  <a:lnTo>
                    <a:pt x="296151" y="82029"/>
                  </a:lnTo>
                  <a:lnTo>
                    <a:pt x="338074" y="203238"/>
                  </a:lnTo>
                  <a:lnTo>
                    <a:pt x="418261" y="203238"/>
                  </a:lnTo>
                  <a:close/>
                </a:path>
                <a:path w="817880" h="203834">
                  <a:moveTo>
                    <a:pt x="595960" y="0"/>
                  </a:moveTo>
                  <a:lnTo>
                    <a:pt x="399135" y="0"/>
                  </a:lnTo>
                  <a:lnTo>
                    <a:pt x="399135" y="59690"/>
                  </a:lnTo>
                  <a:lnTo>
                    <a:pt x="457441" y="59690"/>
                  </a:lnTo>
                  <a:lnTo>
                    <a:pt x="457441" y="203200"/>
                  </a:lnTo>
                  <a:lnTo>
                    <a:pt x="539457" y="203200"/>
                  </a:lnTo>
                  <a:lnTo>
                    <a:pt x="539457" y="59690"/>
                  </a:lnTo>
                  <a:lnTo>
                    <a:pt x="595960" y="59690"/>
                  </a:lnTo>
                  <a:lnTo>
                    <a:pt x="595960" y="0"/>
                  </a:lnTo>
                  <a:close/>
                </a:path>
                <a:path w="817880" h="203834">
                  <a:moveTo>
                    <a:pt x="817397" y="203238"/>
                  </a:moveTo>
                  <a:lnTo>
                    <a:pt x="738124" y="12"/>
                  </a:lnTo>
                  <a:lnTo>
                    <a:pt x="652449" y="12"/>
                  </a:lnTo>
                  <a:lnTo>
                    <a:pt x="575005" y="203238"/>
                  </a:lnTo>
                  <a:lnTo>
                    <a:pt x="654291" y="203238"/>
                  </a:lnTo>
                  <a:lnTo>
                    <a:pt x="695286" y="82029"/>
                  </a:lnTo>
                  <a:lnTo>
                    <a:pt x="737196" y="203238"/>
                  </a:lnTo>
                  <a:lnTo>
                    <a:pt x="817397" y="203238"/>
                  </a:lnTo>
                  <a:close/>
                </a:path>
              </a:pathLst>
            </a:custGeom>
            <a:solidFill>
              <a:srgbClr val="1268B3"/>
            </a:solidFill>
          </p:spPr>
          <p:txBody>
            <a:bodyPr wrap="square" lIns="0" tIns="0" rIns="0" bIns="0" rtlCol="0"/>
            <a:lstStyle/>
            <a:p>
              <a:endParaRPr sz="1351"/>
            </a:p>
          </p:txBody>
        </p:sp>
        <p:grpSp>
          <p:nvGrpSpPr>
            <p:cNvPr id="11" name="object 12">
              <a:extLst>
                <a:ext uri="{FF2B5EF4-FFF2-40B4-BE49-F238E27FC236}">
                  <a16:creationId xmlns:a16="http://schemas.microsoft.com/office/drawing/2014/main" id="{02532EAD-2FFF-920D-34C9-969D37ECDA30}"/>
                </a:ext>
              </a:extLst>
            </p:cNvPr>
            <p:cNvGrpSpPr/>
            <p:nvPr/>
          </p:nvGrpSpPr>
          <p:grpSpPr>
            <a:xfrm>
              <a:off x="9242701" y="249950"/>
              <a:ext cx="202816" cy="135423"/>
              <a:chOff x="18288992" y="494982"/>
              <a:chExt cx="401320" cy="267970"/>
            </a:xfrm>
          </p:grpSpPr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6F8402D7-0D12-D996-14EF-78EDB371B7B8}"/>
                  </a:ext>
                </a:extLst>
              </p:cNvPr>
              <p:cNvSpPr/>
              <p:nvPr/>
            </p:nvSpPr>
            <p:spPr>
              <a:xfrm>
                <a:off x="18299829" y="494982"/>
                <a:ext cx="37973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267970">
                    <a:moveTo>
                      <a:pt x="189606" y="0"/>
                    </a:moveTo>
                    <a:lnTo>
                      <a:pt x="138476" y="4133"/>
                    </a:lnTo>
                    <a:lnTo>
                      <a:pt x="91012" y="16795"/>
                    </a:lnTo>
                    <a:lnTo>
                      <a:pt x="50719" y="36565"/>
                    </a:lnTo>
                    <a:lnTo>
                      <a:pt x="18962" y="62846"/>
                    </a:lnTo>
                    <a:lnTo>
                      <a:pt x="0" y="89389"/>
                    </a:lnTo>
                    <a:lnTo>
                      <a:pt x="33432" y="82180"/>
                    </a:lnTo>
                    <a:lnTo>
                      <a:pt x="74078" y="75170"/>
                    </a:lnTo>
                    <a:lnTo>
                      <a:pt x="118993" y="69582"/>
                    </a:lnTo>
                    <a:lnTo>
                      <a:pt x="165230" y="66636"/>
                    </a:lnTo>
                    <a:lnTo>
                      <a:pt x="171188" y="66636"/>
                    </a:lnTo>
                    <a:lnTo>
                      <a:pt x="180936" y="97515"/>
                    </a:lnTo>
                    <a:lnTo>
                      <a:pt x="179313" y="267091"/>
                    </a:lnTo>
                    <a:lnTo>
                      <a:pt x="182570" y="267091"/>
                    </a:lnTo>
                    <a:lnTo>
                      <a:pt x="185805" y="267614"/>
                    </a:lnTo>
                    <a:lnTo>
                      <a:pt x="196653" y="267614"/>
                    </a:lnTo>
                    <a:lnTo>
                      <a:pt x="199899" y="267091"/>
                    </a:lnTo>
                    <a:lnTo>
                      <a:pt x="198240" y="91103"/>
                    </a:lnTo>
                    <a:lnTo>
                      <a:pt x="198406" y="83573"/>
                    </a:lnTo>
                    <a:lnTo>
                      <a:pt x="199182" y="76647"/>
                    </a:lnTo>
                    <a:lnTo>
                      <a:pt x="200978" y="72050"/>
                    </a:lnTo>
                    <a:lnTo>
                      <a:pt x="203679" y="68259"/>
                    </a:lnTo>
                    <a:lnTo>
                      <a:pt x="208025" y="66636"/>
                    </a:lnTo>
                    <a:lnTo>
                      <a:pt x="213448" y="66636"/>
                    </a:lnTo>
                    <a:lnTo>
                      <a:pt x="259761" y="69582"/>
                    </a:lnTo>
                    <a:lnTo>
                      <a:pt x="304859" y="75170"/>
                    </a:lnTo>
                    <a:lnTo>
                      <a:pt x="345694" y="82180"/>
                    </a:lnTo>
                    <a:lnTo>
                      <a:pt x="379213" y="89389"/>
                    </a:lnTo>
                    <a:lnTo>
                      <a:pt x="375258" y="82500"/>
                    </a:lnTo>
                    <a:lnTo>
                      <a:pt x="345562" y="48940"/>
                    </a:lnTo>
                    <a:lnTo>
                      <a:pt x="309057" y="25818"/>
                    </a:lnTo>
                    <a:lnTo>
                      <a:pt x="264643" y="9373"/>
                    </a:lnTo>
                    <a:lnTo>
                      <a:pt x="215363" y="1025"/>
                    </a:lnTo>
                    <a:lnTo>
                      <a:pt x="189606" y="0"/>
                    </a:lnTo>
                    <a:close/>
                  </a:path>
                </a:pathLst>
              </a:custGeom>
              <a:solidFill>
                <a:srgbClr val="1268B3"/>
              </a:solidFill>
            </p:spPr>
            <p:txBody>
              <a:bodyPr wrap="square" lIns="0" tIns="0" rIns="0" bIns="0" rtlCol="0"/>
              <a:lstStyle/>
              <a:p>
                <a:endParaRPr sz="1351"/>
              </a:p>
            </p:txBody>
          </p:sp>
          <p:pic>
            <p:nvPicPr>
              <p:cNvPr id="13" name="object 14">
                <a:extLst>
                  <a:ext uri="{FF2B5EF4-FFF2-40B4-BE49-F238E27FC236}">
                    <a16:creationId xmlns:a16="http://schemas.microsoft.com/office/drawing/2014/main" id="{0DFC7A20-C017-CE95-7FD8-5CE9BF1F254E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525215" y="589788"/>
                <a:ext cx="164657" cy="165241"/>
              </a:xfrm>
              <a:prstGeom prst="rect">
                <a:avLst/>
              </a:prstGeom>
            </p:spPr>
          </p:pic>
          <p:pic>
            <p:nvPicPr>
              <p:cNvPr id="14" name="object 15">
                <a:extLst>
                  <a:ext uri="{FF2B5EF4-FFF2-40B4-BE49-F238E27FC236}">
                    <a16:creationId xmlns:a16="http://schemas.microsoft.com/office/drawing/2014/main" id="{B6CF14D8-ADE7-8B01-6048-FE97A4CFD2BB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88992" y="589784"/>
                <a:ext cx="164355" cy="165775"/>
              </a:xfrm>
              <a:prstGeom prst="rect">
                <a:avLst/>
              </a:prstGeom>
            </p:spPr>
          </p:pic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B2D3BC4-9F86-13CC-15DD-3323E35602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377" y="336035"/>
            <a:ext cx="1776779" cy="1262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743D94-FB0E-9B5A-7614-A06E99D1E621}"/>
              </a:ext>
            </a:extLst>
          </p:cNvPr>
          <p:cNvSpPr txBox="1"/>
          <p:nvPr userDrawn="1"/>
        </p:nvSpPr>
        <p:spPr>
          <a:xfrm>
            <a:off x="437245" y="6574775"/>
            <a:ext cx="609887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700" spc="-20" baseline="0">
                <a:solidFill>
                  <a:srgbClr val="0000B3"/>
                </a:solidFill>
                <a:effectLst/>
                <a:latin typeface="DM Sans" pitchFamily="2" charset="77"/>
              </a:defRPr>
            </a:lvl1pPr>
          </a:lstStyle>
          <a:p>
            <a:pPr lvl="0"/>
            <a:r>
              <a:rPr lang="en-GB"/>
              <a:t>© Copyright 2025 Tata Technologies. All rights reserved. All other trademarks are trademarks of their respective owners.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3E01C9D-0970-8630-CA3F-FCB69E91126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01444" y="6615021"/>
            <a:ext cx="2135345" cy="168971"/>
          </a:xfrm>
          <a:prstGeom prst="rect">
            <a:avLst/>
          </a:prstGeom>
        </p:spPr>
      </p:pic>
      <p:sp>
        <p:nvSpPr>
          <p:cNvPr id="20" name="Title 93">
            <a:extLst>
              <a:ext uri="{FF2B5EF4-FFF2-40B4-BE49-F238E27FC236}">
                <a16:creationId xmlns:a16="http://schemas.microsoft.com/office/drawing/2014/main" id="{CC234BA9-2187-E96D-4312-B104D6FF3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384" y="780079"/>
            <a:ext cx="10515600" cy="445170"/>
          </a:xfrm>
        </p:spPr>
        <p:txBody>
          <a:bodyPr>
            <a:noAutofit/>
          </a:bodyPr>
          <a:lstStyle>
            <a:lvl1pPr marL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800" b="0" i="0" kern="1200" dirty="0">
                <a:solidFill>
                  <a:srgbClr val="0000B3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GB"/>
              <a:t>Contents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8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DAC17650-06DC-D474-98CE-51EAA7AF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4" y="833439"/>
            <a:ext cx="11598479" cy="8495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56D04-80A2-42B6-8315-A3922E7AA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4" y="1855305"/>
            <a:ext cx="11598479" cy="4321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934C98B7-5463-4099-DFA5-F599D5B12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" y="6356352"/>
            <a:ext cx="491300" cy="365125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B1DB5C-CBD1-46F1-83D6-F5AA23577CB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76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703" r:id="rId9"/>
    <p:sldLayoutId id="2147483811" r:id="rId10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3.emf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 descr="A person in a car&#10;&#10;Description automatically generated">
            <a:extLst>
              <a:ext uri="{FF2B5EF4-FFF2-40B4-BE49-F238E27FC236}">
                <a16:creationId xmlns:a16="http://schemas.microsoft.com/office/drawing/2014/main" id="{B7EC45C5-3C89-572C-1D9A-A56FBF60972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4456" y="817563"/>
            <a:ext cx="6257925" cy="517683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4ED3A2A-2B38-EDE5-C88F-9873F9F3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5" y="2600329"/>
            <a:ext cx="6485885" cy="1611964"/>
          </a:xfrm>
        </p:spPr>
        <p:txBody>
          <a:bodyPr/>
          <a:lstStyle/>
          <a:p>
            <a:r>
              <a:rPr lang="en-US"/>
              <a:t>JLR VPD EDS </a:t>
            </a:r>
            <a:br>
              <a:rPr lang="en-US"/>
            </a:br>
            <a:r>
              <a:rPr lang="en-US"/>
              <a:t>Heating Element </a:t>
            </a:r>
            <a:br>
              <a:rPr lang="en-US"/>
            </a:br>
            <a:r>
              <a:rPr lang="en-US"/>
              <a:t>(FY 2025-26)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4214A2-B34C-F776-CFFC-E9F60AFBED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10-Sept-2025 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9036DEC-158B-DADD-5C7A-5DC9BC1988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7778" b="18010"/>
          <a:stretch/>
        </p:blipFill>
        <p:spPr>
          <a:xfrm>
            <a:off x="3532327" y="807894"/>
            <a:ext cx="5346283" cy="45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30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F2479-47FE-0728-D858-276CD519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Change history</a:t>
            </a:r>
            <a:endParaRPr lang="en-GB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DBDB8A-D24B-7ECC-91C9-8CE70A5B9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536721"/>
              </p:ext>
            </p:extLst>
          </p:nvPr>
        </p:nvGraphicFramePr>
        <p:xfrm>
          <a:off x="394461" y="1507067"/>
          <a:ext cx="855827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634">
                  <a:extLst>
                    <a:ext uri="{9D8B030D-6E8A-4147-A177-3AD203B41FA5}">
                      <a16:colId xmlns:a16="http://schemas.microsoft.com/office/drawing/2014/main" val="4015081334"/>
                    </a:ext>
                  </a:extLst>
                </a:gridCol>
                <a:gridCol w="2021747">
                  <a:extLst>
                    <a:ext uri="{9D8B030D-6E8A-4147-A177-3AD203B41FA5}">
                      <a16:colId xmlns:a16="http://schemas.microsoft.com/office/drawing/2014/main" val="3950785995"/>
                    </a:ext>
                  </a:extLst>
                </a:gridCol>
                <a:gridCol w="1514157">
                  <a:extLst>
                    <a:ext uri="{9D8B030D-6E8A-4147-A177-3AD203B41FA5}">
                      <a16:colId xmlns:a16="http://schemas.microsoft.com/office/drawing/2014/main" val="1564980161"/>
                    </a:ext>
                  </a:extLst>
                </a:gridCol>
                <a:gridCol w="3745740">
                  <a:extLst>
                    <a:ext uri="{9D8B030D-6E8A-4147-A177-3AD203B41FA5}">
                      <a16:colId xmlns:a16="http://schemas.microsoft.com/office/drawing/2014/main" val="4081783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Issue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Owner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16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 Narrow"/>
                        </a:rPr>
                        <a:t>New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31-12-2025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Vyshak PV / Moinkhan S/ Akash H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079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178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449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494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1007-B4C6-3B82-70A9-7240253EA71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090A0B"/>
            </a:solidFill>
            <a:prstDash val="dash"/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Concept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364C9-8868-97DB-AC9C-548A0C5E9C64}"/>
              </a:ext>
            </a:extLst>
          </p:cNvPr>
          <p:cNvSpPr txBox="1"/>
          <p:nvPr/>
        </p:nvSpPr>
        <p:spPr>
          <a:xfrm>
            <a:off x="510492" y="1579639"/>
            <a:ext cx="2557302" cy="276999"/>
          </a:xfrm>
          <a:prstGeom prst="rect">
            <a:avLst/>
          </a:prstGeom>
          <a:noFill/>
          <a:ln>
            <a:solidFill>
              <a:srgbClr val="090A0B">
                <a:alpha val="3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404751"/>
                </a:solidFill>
              </a:rPr>
              <a:t>ICE ACCUMULATION CONCERN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173FD-42E8-C3AB-43F8-4669BA65BF54}"/>
              </a:ext>
            </a:extLst>
          </p:cNvPr>
          <p:cNvSpPr txBox="1"/>
          <p:nvPr/>
        </p:nvSpPr>
        <p:spPr>
          <a:xfrm>
            <a:off x="6405422" y="1579638"/>
            <a:ext cx="1481639" cy="276999"/>
          </a:xfrm>
          <a:prstGeom prst="rect">
            <a:avLst/>
          </a:prstGeom>
          <a:noFill/>
          <a:ln>
            <a:solidFill>
              <a:srgbClr val="090A0B">
                <a:alpha val="3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404751"/>
                </a:solidFill>
              </a:rPr>
              <a:t>REQUIREMENT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73D050-B452-534C-1AF1-C38751DB1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92" y="1878505"/>
            <a:ext cx="3910263" cy="10742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E8CC84-8409-05EE-B3D6-A776481FFDA2}"/>
              </a:ext>
            </a:extLst>
          </p:cNvPr>
          <p:cNvSpPr txBox="1"/>
          <p:nvPr/>
        </p:nvSpPr>
        <p:spPr>
          <a:xfrm>
            <a:off x="502025" y="2972817"/>
            <a:ext cx="4027641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/>
              <a:t>Radome image to understand Snow Accumulation Concern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B911A1-A945-9567-AC15-481E18356D7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3C6680"/>
              </a:clrFrom>
              <a:clrTo>
                <a:srgbClr val="3C668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425" y="3427529"/>
            <a:ext cx="2117035" cy="2138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5B11D8-4866-D9AD-0802-79598AE3DBBD}"/>
              </a:ext>
            </a:extLst>
          </p:cNvPr>
          <p:cNvSpPr txBox="1"/>
          <p:nvPr/>
        </p:nvSpPr>
        <p:spPr>
          <a:xfrm>
            <a:off x="276961" y="5754755"/>
            <a:ext cx="549699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US"/>
              <a:t>1. Due to inward profile of grille leap at ADAS area there are chances of snow accumulation, due to which efficiency of radar might get reduced.</a:t>
            </a:r>
          </a:p>
          <a:p>
            <a:r>
              <a:rPr lang="en-US"/>
              <a:t>2. Snow accumulation assumptions highlighted in yellow colour.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DFAC2-6714-D49D-7CA1-B41DEB7076ED}"/>
              </a:ext>
            </a:extLst>
          </p:cNvPr>
          <p:cNvSpPr txBox="1"/>
          <p:nvPr/>
        </p:nvSpPr>
        <p:spPr>
          <a:xfrm>
            <a:off x="6286890" y="5754757"/>
            <a:ext cx="561112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US"/>
              <a:t>Requirement :- to introduce new part heating element to melt snow.</a:t>
            </a:r>
          </a:p>
          <a:p>
            <a:r>
              <a:rPr lang="en-US"/>
              <a:t>Constraints:- packaging seems very close with current position (refer next slide) of ADAS and radar bracket (screenshot highlighted next slide).</a:t>
            </a:r>
          </a:p>
        </p:txBody>
      </p:sp>
      <p:pic>
        <p:nvPicPr>
          <p:cNvPr id="14" name="Picture 13" descr="A diagram of a car engine&#10;&#10;AI-generated content may be incorrect.">
            <a:extLst>
              <a:ext uri="{FF2B5EF4-FFF2-40B4-BE49-F238E27FC236}">
                <a16:creationId xmlns:a16="http://schemas.microsoft.com/office/drawing/2014/main" id="{FBB4B062-DA0F-5681-5CFC-4D432E5D1F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751" y="1539707"/>
            <a:ext cx="5939224" cy="312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86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98E247B-2316-825C-4E48-63252249E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046" y="1587981"/>
            <a:ext cx="3368103" cy="40132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963517-D086-8A4F-069E-06DF678CE1C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090A0B"/>
            </a:solidFill>
            <a:prstDash val="dash"/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Concept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100CA-970A-1E3B-EB76-B4C447532658}"/>
              </a:ext>
            </a:extLst>
          </p:cNvPr>
          <p:cNvSpPr txBox="1"/>
          <p:nvPr/>
        </p:nvSpPr>
        <p:spPr>
          <a:xfrm>
            <a:off x="331742" y="1355004"/>
            <a:ext cx="2840356" cy="215444"/>
          </a:xfrm>
          <a:prstGeom prst="rect">
            <a:avLst/>
          </a:prstGeom>
          <a:noFill/>
          <a:ln>
            <a:solidFill>
              <a:srgbClr val="090A0B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>
                <a:solidFill>
                  <a:srgbClr val="090A0B"/>
                </a:solidFill>
              </a:rPr>
              <a:t>INITIAL PROPOSAL GIVEN TO AVOID TOOL COST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38D145-B798-328B-52FA-9FBA5419E3D5}"/>
              </a:ext>
            </a:extLst>
          </p:cNvPr>
          <p:cNvGrpSpPr/>
          <p:nvPr/>
        </p:nvGrpSpPr>
        <p:grpSpPr>
          <a:xfrm>
            <a:off x="331741" y="1636141"/>
            <a:ext cx="3900872" cy="4162380"/>
            <a:chOff x="5761993" y="1018878"/>
            <a:chExt cx="2840356" cy="32838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E4FE3E-6EBB-550C-1D5B-606D351C7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1993" y="1018878"/>
              <a:ext cx="2840356" cy="3283895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EC7D3D6-B86D-FFB1-ED1D-ACF2DF834F6A}"/>
                </a:ext>
              </a:extLst>
            </p:cNvPr>
            <p:cNvSpPr/>
            <p:nvPr/>
          </p:nvSpPr>
          <p:spPr>
            <a:xfrm>
              <a:off x="6304514" y="2853789"/>
              <a:ext cx="1339200" cy="1260000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58194F9-711B-C20E-68C4-570B74C69550}"/>
              </a:ext>
            </a:extLst>
          </p:cNvPr>
          <p:cNvSpPr txBox="1"/>
          <p:nvPr/>
        </p:nvSpPr>
        <p:spPr>
          <a:xfrm>
            <a:off x="331741" y="5878855"/>
            <a:ext cx="409542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US"/>
              <a:t>Initial Proposal can be shared with Design Team ::</a:t>
            </a:r>
          </a:p>
          <a:p>
            <a:r>
              <a:rPr lang="en-US"/>
              <a:t>Profile created outward to avoid Snow accumulation to improve ADAS efficiency.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EB335F-D07E-1E3E-13F6-86ABB8EB906B}"/>
              </a:ext>
            </a:extLst>
          </p:cNvPr>
          <p:cNvSpPr txBox="1"/>
          <p:nvPr/>
        </p:nvSpPr>
        <p:spPr>
          <a:xfrm>
            <a:off x="4254162" y="2980323"/>
            <a:ext cx="1108794" cy="338554"/>
          </a:xfrm>
          <a:prstGeom prst="rect">
            <a:avLst/>
          </a:prstGeom>
          <a:solidFill>
            <a:srgbClr val="797CBD"/>
          </a:solidFill>
          <a:ln>
            <a:solidFill>
              <a:srgbClr val="090A0B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PROPOSED GRILLE SURFACE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37E69-733C-B5BD-CBB1-09187950043C}"/>
              </a:ext>
            </a:extLst>
          </p:cNvPr>
          <p:cNvSpPr txBox="1"/>
          <p:nvPr/>
        </p:nvSpPr>
        <p:spPr>
          <a:xfrm>
            <a:off x="331742" y="2934219"/>
            <a:ext cx="860572" cy="461665"/>
          </a:xfrm>
          <a:prstGeom prst="rect">
            <a:avLst/>
          </a:prstGeom>
          <a:solidFill>
            <a:srgbClr val="797CBD"/>
          </a:solidFill>
          <a:ln>
            <a:solidFill>
              <a:srgbClr val="090A0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EXISTING GRILLE SURFACE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E7380FD-151B-17A9-4D2F-431444760CE0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2870147" y="2801659"/>
            <a:ext cx="1421195" cy="2455630"/>
          </a:xfrm>
          <a:prstGeom prst="bentConnector2">
            <a:avLst/>
          </a:prstGeom>
          <a:ln w="12700">
            <a:solidFill>
              <a:srgbClr val="FFC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0203058-625A-EE92-3E28-9842CAD8D0E5}"/>
              </a:ext>
            </a:extLst>
          </p:cNvPr>
          <p:cNvCxnSpPr>
            <a:cxnSpLocks/>
            <a:stCxn id="10" idx="2"/>
          </p:cNvCxnSpPr>
          <p:nvPr/>
        </p:nvCxnSpPr>
        <p:spPr>
          <a:xfrm rot="16200000" flipH="1">
            <a:off x="422501" y="3735411"/>
            <a:ext cx="1548312" cy="869258"/>
          </a:xfrm>
          <a:prstGeom prst="bentConnector3">
            <a:avLst>
              <a:gd name="adj1" fmla="val 96492"/>
            </a:avLst>
          </a:prstGeom>
          <a:ln w="12700">
            <a:solidFill>
              <a:srgbClr val="FFC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0739080-9BFB-338F-2C4F-BACAD50E589F}"/>
              </a:ext>
            </a:extLst>
          </p:cNvPr>
          <p:cNvSpPr txBox="1"/>
          <p:nvPr/>
        </p:nvSpPr>
        <p:spPr>
          <a:xfrm>
            <a:off x="6253098" y="5910283"/>
            <a:ext cx="526934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US"/>
              <a:t>Heating Element need to be incorporated at the radome area If the style modification proposal is not so feasible considering the theme ,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DD813-3230-A526-DCC0-40E1F00A38BD}"/>
              </a:ext>
            </a:extLst>
          </p:cNvPr>
          <p:cNvSpPr txBox="1"/>
          <p:nvPr/>
        </p:nvSpPr>
        <p:spPr>
          <a:xfrm>
            <a:off x="10485349" y="3815942"/>
            <a:ext cx="876918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ADAS Unit</a:t>
            </a:r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3A300-D11E-30F6-B8F4-4547C3AE46B1}"/>
              </a:ext>
            </a:extLst>
          </p:cNvPr>
          <p:cNvSpPr txBox="1"/>
          <p:nvPr/>
        </p:nvSpPr>
        <p:spPr>
          <a:xfrm>
            <a:off x="10492471" y="2510667"/>
            <a:ext cx="1170768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ADAS BRACKET</a:t>
            </a:r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E45EDE-AB0E-C935-89FC-6887020FEF19}"/>
              </a:ext>
            </a:extLst>
          </p:cNvPr>
          <p:cNvSpPr txBox="1"/>
          <p:nvPr/>
        </p:nvSpPr>
        <p:spPr>
          <a:xfrm>
            <a:off x="6069157" y="5194008"/>
            <a:ext cx="1129140" cy="4154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LOWER GRILLE</a:t>
            </a:r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0A8EA3-B670-D200-81AF-5A4DA7CA40AA}"/>
              </a:ext>
            </a:extLst>
          </p:cNvPr>
          <p:cNvSpPr txBox="1"/>
          <p:nvPr/>
        </p:nvSpPr>
        <p:spPr>
          <a:xfrm>
            <a:off x="6096000" y="4803043"/>
            <a:ext cx="913546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US" b="1"/>
              <a:t>FINISHERS</a:t>
            </a:r>
            <a:endParaRPr lang="en-IN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99304A-3270-0697-7BED-92070F01CADC}"/>
              </a:ext>
            </a:extLst>
          </p:cNvPr>
          <p:cNvSpPr txBox="1"/>
          <p:nvPr/>
        </p:nvSpPr>
        <p:spPr>
          <a:xfrm>
            <a:off x="5784110" y="3715694"/>
            <a:ext cx="93797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ADAS FOV</a:t>
            </a:r>
            <a:endParaRPr lang="en-IN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F97568C1-75AA-ABF0-07AF-7D85823A2A85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7198297" y="4985401"/>
            <a:ext cx="540293" cy="416356"/>
          </a:xfrm>
          <a:prstGeom prst="bentConnector3">
            <a:avLst>
              <a:gd name="adj1" fmla="val 50000"/>
            </a:avLst>
          </a:prstGeom>
          <a:ln w="12700">
            <a:solidFill>
              <a:srgbClr val="C74E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44B3782-E778-7413-89BC-22BF14EB928F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7009546" y="4765205"/>
            <a:ext cx="639397" cy="160949"/>
          </a:xfrm>
          <a:prstGeom prst="bentConnector3">
            <a:avLst>
              <a:gd name="adj1" fmla="val 50000"/>
            </a:avLst>
          </a:prstGeom>
          <a:ln w="12700">
            <a:solidFill>
              <a:srgbClr val="C74E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BBBA612-58EC-6CBD-B050-3519FF95973D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722087" y="3592584"/>
            <a:ext cx="476210" cy="246221"/>
          </a:xfrm>
          <a:prstGeom prst="bentConnector3">
            <a:avLst>
              <a:gd name="adj1" fmla="val 12664"/>
            </a:avLst>
          </a:prstGeom>
          <a:ln w="12700">
            <a:solidFill>
              <a:srgbClr val="C74EFF"/>
            </a:solidFill>
            <a:tailEnd type="oval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A605163-7C3C-2399-E52B-FF1466F318B9}"/>
              </a:ext>
            </a:extLst>
          </p:cNvPr>
          <p:cNvSpPr txBox="1"/>
          <p:nvPr/>
        </p:nvSpPr>
        <p:spPr>
          <a:xfrm>
            <a:off x="6163371" y="1854531"/>
            <a:ext cx="1034926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BUMPER SKIN</a:t>
            </a:r>
            <a:endParaRPr lang="en-IN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A6EDE24-B125-9361-CD39-3575FC7DBC98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7198297" y="1977642"/>
            <a:ext cx="717378" cy="143440"/>
          </a:xfrm>
          <a:prstGeom prst="bentConnector3">
            <a:avLst>
              <a:gd name="adj1" fmla="val 50000"/>
            </a:avLst>
          </a:prstGeom>
          <a:ln w="12700">
            <a:solidFill>
              <a:srgbClr val="C74EFF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3028E0C-B21C-1DE6-3E64-E4DBA7F25F80}"/>
              </a:ext>
            </a:extLst>
          </p:cNvPr>
          <p:cNvCxnSpPr>
            <a:cxnSpLocks/>
            <a:stCxn id="29" idx="1"/>
          </p:cNvCxnSpPr>
          <p:nvPr/>
        </p:nvCxnSpPr>
        <p:spPr>
          <a:xfrm rot="10800000" flipV="1">
            <a:off x="9086297" y="2633777"/>
            <a:ext cx="1406174" cy="531273"/>
          </a:xfrm>
          <a:prstGeom prst="bentConnector3">
            <a:avLst>
              <a:gd name="adj1" fmla="val 13271"/>
            </a:avLst>
          </a:prstGeom>
          <a:ln w="12700">
            <a:solidFill>
              <a:srgbClr val="FFC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7E057D9C-5831-71BC-788A-37BFA0B4C520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8742573" y="3815943"/>
            <a:ext cx="1742776" cy="123111"/>
          </a:xfrm>
          <a:prstGeom prst="bentConnector3">
            <a:avLst>
              <a:gd name="adj1" fmla="val 12106"/>
            </a:avLst>
          </a:prstGeom>
          <a:ln w="12700">
            <a:solidFill>
              <a:srgbClr val="FFC000"/>
            </a:solidFill>
            <a:tailEnd type="oval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5761A53-4207-75BF-2854-0E9A68B5979E}"/>
              </a:ext>
            </a:extLst>
          </p:cNvPr>
          <p:cNvSpPr txBox="1"/>
          <p:nvPr/>
        </p:nvSpPr>
        <p:spPr>
          <a:xfrm>
            <a:off x="10485349" y="4874996"/>
            <a:ext cx="1170768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Bumper Beam</a:t>
            </a:r>
            <a:endParaRPr lang="en-IN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54E4EB03-9FDA-AB47-682D-D54207CA7770}"/>
              </a:ext>
            </a:extLst>
          </p:cNvPr>
          <p:cNvCxnSpPr>
            <a:cxnSpLocks/>
            <a:stCxn id="70" idx="1"/>
          </p:cNvCxnSpPr>
          <p:nvPr/>
        </p:nvCxnSpPr>
        <p:spPr>
          <a:xfrm rot="10800000">
            <a:off x="9469861" y="4819799"/>
            <a:ext cx="1015488" cy="178308"/>
          </a:xfrm>
          <a:prstGeom prst="bentConnector3">
            <a:avLst>
              <a:gd name="adj1" fmla="val 50000"/>
            </a:avLst>
          </a:prstGeom>
          <a:ln w="12700">
            <a:solidFill>
              <a:srgbClr val="FFC000"/>
            </a:solidFill>
            <a:tailEnd type="oval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4B9EB5D-EA93-4E6B-2043-4035EA68CC3D}"/>
              </a:ext>
            </a:extLst>
          </p:cNvPr>
          <p:cNvCxnSpPr/>
          <p:nvPr/>
        </p:nvCxnSpPr>
        <p:spPr>
          <a:xfrm>
            <a:off x="5571067" y="1355004"/>
            <a:ext cx="0" cy="5418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062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4D09-9485-2301-0326-6046AB1D2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7B14-115F-79D3-997A-77C61A715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element :: Packaging Requirements</a:t>
            </a:r>
            <a:endParaRPr lang="en-GB" dirty="0"/>
          </a:p>
        </p:txBody>
      </p:sp>
      <p:pic>
        <p:nvPicPr>
          <p:cNvPr id="26" name="Picture 25" descr="A diagram of a rectangular object&#10;&#10;AI-generated content may be incorrect.">
            <a:extLst>
              <a:ext uri="{FF2B5EF4-FFF2-40B4-BE49-F238E27FC236}">
                <a16:creationId xmlns:a16="http://schemas.microsoft.com/office/drawing/2014/main" id="{4C019CF8-56D6-617B-B020-EA87F3453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357" y="1822282"/>
            <a:ext cx="4663157" cy="38998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68DEE5-57DE-D254-25D3-031D980FC9D8}"/>
              </a:ext>
            </a:extLst>
          </p:cNvPr>
          <p:cNvSpPr txBox="1"/>
          <p:nvPr/>
        </p:nvSpPr>
        <p:spPr>
          <a:xfrm>
            <a:off x="5983705" y="2727783"/>
            <a:ext cx="6208295" cy="21236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GB" dirty="0"/>
              <a:t>Heating Wires shall run vertical in carline inside the Field of View </a:t>
            </a:r>
          </a:p>
          <a:p>
            <a:r>
              <a:rPr lang="en-GB" dirty="0"/>
              <a:t>ensure Field of View accounts for radar positional tolerance </a:t>
            </a:r>
          </a:p>
          <a:p>
            <a:r>
              <a:rPr lang="en-GB" dirty="0"/>
              <a:t>Heating Wires shall remain vertical for at least A = 1mm outside of the Field of View </a:t>
            </a:r>
          </a:p>
          <a:p>
            <a:r>
              <a:rPr lang="en-GB" dirty="0"/>
              <a:t>The edge of the foil shall be a minimum of B = 2mm outside of the heating wires </a:t>
            </a:r>
          </a:p>
          <a:p>
            <a:r>
              <a:rPr lang="en-GB" dirty="0"/>
              <a:t>Edge of the carrier to any other mating part feature (e.g. hole, rib, screw boss) shall have a clearance of 1mm within the assembly </a:t>
            </a:r>
          </a:p>
          <a:p>
            <a:r>
              <a:rPr lang="en-GB" dirty="0"/>
              <a:t>The min distance between foil edge &amp; Carrier edge </a:t>
            </a:r>
            <a:r>
              <a:rPr lang="en-GB" dirty="0" err="1"/>
              <a:t>ie</a:t>
            </a:r>
            <a:r>
              <a:rPr lang="en-GB" dirty="0"/>
              <a:t> C=1.4mm</a:t>
            </a:r>
          </a:p>
          <a:p>
            <a:r>
              <a:rPr lang="en-GB" dirty="0"/>
              <a:t>Foil shall be away from any parting line by at least 0.5mm for parts over 800mm this value has to be confirmed with supplier </a:t>
            </a:r>
          </a:p>
          <a:p>
            <a:r>
              <a:rPr lang="en-GB" dirty="0"/>
              <a:t>Total thickness of the Carrier and Mating part shall be reviewed for radar attenuation mitigation.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103890-209A-7EBA-5F89-4FB9B7B25CF1}"/>
              </a:ext>
            </a:extLst>
          </p:cNvPr>
          <p:cNvSpPr txBox="1"/>
          <p:nvPr/>
        </p:nvSpPr>
        <p:spPr>
          <a:xfrm>
            <a:off x="2621865" y="5914199"/>
            <a:ext cx="1147945" cy="261610"/>
          </a:xfrm>
          <a:prstGeom prst="rect">
            <a:avLst/>
          </a:prstGeom>
          <a:solidFill>
            <a:schemeClr val="bg2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/>
              <a:t>Section A-A</a:t>
            </a:r>
            <a:endParaRPr lang="en-GB" sz="1100" b="1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C132B6-1FC3-BB19-A7E2-42B2797A001E}"/>
              </a:ext>
            </a:extLst>
          </p:cNvPr>
          <p:cNvGrpSpPr>
            <a:grpSpLocks noChangeAspect="1"/>
          </p:cNvGrpSpPr>
          <p:nvPr/>
        </p:nvGrpSpPr>
        <p:grpSpPr>
          <a:xfrm>
            <a:off x="9301528" y="1079809"/>
            <a:ext cx="2657088" cy="1439497"/>
            <a:chOff x="8743729" y="1494680"/>
            <a:chExt cx="2930573" cy="15876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7DC76A7-F894-3E00-2DB6-04336315F7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817" t="10524" r="1877"/>
            <a:stretch/>
          </p:blipFill>
          <p:spPr>
            <a:xfrm>
              <a:off x="8743729" y="1494680"/>
              <a:ext cx="2930573" cy="1587660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8EB2EF0-A447-5863-571E-E0AE5BF014AA}"/>
                </a:ext>
              </a:extLst>
            </p:cNvPr>
            <p:cNvCxnSpPr>
              <a:cxnSpLocks/>
            </p:cNvCxnSpPr>
            <p:nvPr/>
          </p:nvCxnSpPr>
          <p:spPr>
            <a:xfrm>
              <a:off x="10195644" y="2108625"/>
              <a:ext cx="0" cy="368115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11CD342-B3BA-30F4-292F-06D38DC27FA6}"/>
                </a:ext>
              </a:extLst>
            </p:cNvPr>
            <p:cNvCxnSpPr/>
            <p:nvPr/>
          </p:nvCxnSpPr>
          <p:spPr>
            <a:xfrm>
              <a:off x="9762508" y="2204122"/>
              <a:ext cx="433136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4FC791F-8EF7-92CD-9804-016BF2B80736}"/>
                </a:ext>
              </a:extLst>
            </p:cNvPr>
            <p:cNvCxnSpPr/>
            <p:nvPr/>
          </p:nvCxnSpPr>
          <p:spPr>
            <a:xfrm>
              <a:off x="9762508" y="2365298"/>
              <a:ext cx="433136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BE4FD3-FFAD-F3E8-BDF7-88EF235B1AF2}"/>
                </a:ext>
              </a:extLst>
            </p:cNvPr>
            <p:cNvSpPr txBox="1"/>
            <p:nvPr/>
          </p:nvSpPr>
          <p:spPr>
            <a:xfrm>
              <a:off x="9602336" y="2026900"/>
              <a:ext cx="160171" cy="2616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b="1"/>
                <a:t>A</a:t>
              </a:r>
              <a:endParaRPr lang="en-GB" sz="1100" b="1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5A6B93-C62B-C562-91E8-977EB8D9F25B}"/>
                </a:ext>
              </a:extLst>
            </p:cNvPr>
            <p:cNvSpPr txBox="1"/>
            <p:nvPr/>
          </p:nvSpPr>
          <p:spPr>
            <a:xfrm>
              <a:off x="9602336" y="2406116"/>
              <a:ext cx="160171" cy="2616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b="1"/>
                <a:t>A</a:t>
              </a:r>
              <a:endParaRPr lang="en-GB" sz="1100" b="1"/>
            </a:p>
          </p:txBody>
        </p:sp>
      </p:grp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2E7DF99-A3FC-6C64-EAE8-D1838483D07E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 flipV="1">
            <a:off x="2250557" y="1753288"/>
            <a:ext cx="711702" cy="1721982"/>
          </a:xfrm>
          <a:prstGeom prst="bentConnector2">
            <a:avLst/>
          </a:prstGeom>
          <a:ln w="9525">
            <a:solidFill>
              <a:srgbClr val="C74EFF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2575E9D-D464-17AB-C173-6F14F0178176}"/>
              </a:ext>
            </a:extLst>
          </p:cNvPr>
          <p:cNvSpPr txBox="1"/>
          <p:nvPr/>
        </p:nvSpPr>
        <p:spPr>
          <a:xfrm>
            <a:off x="2962259" y="1630177"/>
            <a:ext cx="1360718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/>
              <a:t>Radome Area</a:t>
            </a:r>
            <a:endParaRPr lang="en-IN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0330011-9634-B6B7-F451-A215227960AD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939889" y="2288510"/>
            <a:ext cx="947277" cy="826826"/>
          </a:xfrm>
          <a:prstGeom prst="bentConnector3">
            <a:avLst>
              <a:gd name="adj1" fmla="val 50000"/>
            </a:avLst>
          </a:prstGeom>
          <a:ln w="9525">
            <a:solidFill>
              <a:srgbClr val="C74EFF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F7192ED-2F81-B562-192A-DD11594771CD}"/>
              </a:ext>
            </a:extLst>
          </p:cNvPr>
          <p:cNvSpPr txBox="1"/>
          <p:nvPr/>
        </p:nvSpPr>
        <p:spPr>
          <a:xfrm>
            <a:off x="91194" y="2088455"/>
            <a:ext cx="848695" cy="40011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/>
              <a:t>Heating Element</a:t>
            </a:r>
            <a:endParaRPr lang="en-IN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CB3ECE9-557B-5786-92A1-AF36C215AAFE}"/>
              </a:ext>
            </a:extLst>
          </p:cNvPr>
          <p:cNvCxnSpPr>
            <a:cxnSpLocks/>
            <a:stCxn id="27" idx="3"/>
            <a:endCxn id="17" idx="6"/>
          </p:cNvCxnSpPr>
          <p:nvPr/>
        </p:nvCxnSpPr>
        <p:spPr>
          <a:xfrm flipV="1">
            <a:off x="1110302" y="3845943"/>
            <a:ext cx="159622" cy="1104480"/>
          </a:xfrm>
          <a:prstGeom prst="bentConnector3">
            <a:avLst>
              <a:gd name="adj1" fmla="val 243213"/>
            </a:avLst>
          </a:prstGeom>
          <a:ln w="15875">
            <a:solidFill>
              <a:srgbClr val="C74EFF"/>
            </a:solidFill>
            <a:prstDash val="sysDash"/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47520EE-0FF0-C696-D9FC-07854323B765}"/>
              </a:ext>
            </a:extLst>
          </p:cNvPr>
          <p:cNvSpPr txBox="1"/>
          <p:nvPr/>
        </p:nvSpPr>
        <p:spPr>
          <a:xfrm>
            <a:off x="233384" y="4827312"/>
            <a:ext cx="876918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ADAS Unit</a:t>
            </a:r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90A805-BEF7-DBBA-B7D1-372FDA6BC0F5}"/>
              </a:ext>
            </a:extLst>
          </p:cNvPr>
          <p:cNvSpPr/>
          <p:nvPr/>
        </p:nvSpPr>
        <p:spPr>
          <a:xfrm>
            <a:off x="993566" y="3789612"/>
            <a:ext cx="276358" cy="112662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742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C6AFB3C9-B3B2-08C9-25BF-1FF59A94D85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10" y="1586431"/>
            <a:ext cx="6708876" cy="2699625"/>
          </a:xfrm>
          <a:prstGeom prst="rect">
            <a:avLst/>
          </a:prstGeom>
          <a:ln w="3175">
            <a:solidFill>
              <a:schemeClr val="tx1">
                <a:alpha val="5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284110-55BA-AA4E-A293-6EB6021C7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Heating element :: Packaging Requirements / reference</a:t>
            </a: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F8230-43B0-EBBF-5967-17C7B1164573}"/>
              </a:ext>
            </a:extLst>
          </p:cNvPr>
          <p:cNvSpPr/>
          <p:nvPr/>
        </p:nvSpPr>
        <p:spPr>
          <a:xfrm>
            <a:off x="1337126" y="2103795"/>
            <a:ext cx="349446" cy="3712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FD831E-8AED-A93A-C5B3-77F6C4B6F9FD}"/>
              </a:ext>
            </a:extLst>
          </p:cNvPr>
          <p:cNvSpPr/>
          <p:nvPr/>
        </p:nvSpPr>
        <p:spPr>
          <a:xfrm>
            <a:off x="5104726" y="2088384"/>
            <a:ext cx="349446" cy="3712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2F6129-53FD-C123-20A6-BF4E9999C8DE}"/>
              </a:ext>
            </a:extLst>
          </p:cNvPr>
          <p:cNvSpPr/>
          <p:nvPr/>
        </p:nvSpPr>
        <p:spPr>
          <a:xfrm>
            <a:off x="650225" y="2140928"/>
            <a:ext cx="546009" cy="34944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D8F61E-40F3-C4B5-D536-B11B12ED690F}"/>
              </a:ext>
            </a:extLst>
          </p:cNvPr>
          <p:cNvSpPr/>
          <p:nvPr/>
        </p:nvSpPr>
        <p:spPr>
          <a:xfrm>
            <a:off x="3312263" y="2110224"/>
            <a:ext cx="517236" cy="34944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04E7DF-3CB7-B615-4C2E-5D924FAF3580}"/>
              </a:ext>
            </a:extLst>
          </p:cNvPr>
          <p:cNvSpPr/>
          <p:nvPr/>
        </p:nvSpPr>
        <p:spPr>
          <a:xfrm>
            <a:off x="4572071" y="2114715"/>
            <a:ext cx="499895" cy="34944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DFA8AF-E7E2-A348-29FA-07DA3A597BC1}"/>
              </a:ext>
            </a:extLst>
          </p:cNvPr>
          <p:cNvSpPr/>
          <p:nvPr/>
        </p:nvSpPr>
        <p:spPr>
          <a:xfrm>
            <a:off x="6156090" y="2132064"/>
            <a:ext cx="499894" cy="3712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E2174D-C051-CEB5-948C-FC7D140F6951}"/>
              </a:ext>
            </a:extLst>
          </p:cNvPr>
          <p:cNvSpPr/>
          <p:nvPr/>
        </p:nvSpPr>
        <p:spPr>
          <a:xfrm>
            <a:off x="3249418" y="3403105"/>
            <a:ext cx="719463" cy="31492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B1FB36-D9BF-FF62-9C13-AE48F8F335E2}"/>
              </a:ext>
            </a:extLst>
          </p:cNvPr>
          <p:cNvSpPr/>
          <p:nvPr/>
        </p:nvSpPr>
        <p:spPr>
          <a:xfrm>
            <a:off x="757379" y="3429000"/>
            <a:ext cx="589689" cy="30576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80BD0E-A0CA-2F66-A5C2-D60BE6A663DC}"/>
              </a:ext>
            </a:extLst>
          </p:cNvPr>
          <p:cNvSpPr/>
          <p:nvPr/>
        </p:nvSpPr>
        <p:spPr>
          <a:xfrm>
            <a:off x="7580819" y="2767187"/>
            <a:ext cx="320040" cy="29260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B6F9C1-628F-E615-4CCB-006F37D86B7E}"/>
              </a:ext>
            </a:extLst>
          </p:cNvPr>
          <p:cNvSpPr/>
          <p:nvPr/>
        </p:nvSpPr>
        <p:spPr>
          <a:xfrm>
            <a:off x="7580819" y="3242735"/>
            <a:ext cx="320040" cy="292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A173FF-EC11-10A1-E51A-2EA5B113566D}"/>
              </a:ext>
            </a:extLst>
          </p:cNvPr>
          <p:cNvSpPr txBox="1"/>
          <p:nvPr/>
        </p:nvSpPr>
        <p:spPr>
          <a:xfrm>
            <a:off x="8031830" y="2773028"/>
            <a:ext cx="181956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pPr marL="0" indent="0">
              <a:buNone/>
            </a:pPr>
            <a:r>
              <a:rPr lang="en-US"/>
              <a:t>Mounting Snap :: 7 Nos.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CD48B32-BDF3-6F6D-5D80-8793A55664ED}"/>
              </a:ext>
            </a:extLst>
          </p:cNvPr>
          <p:cNvGrpSpPr>
            <a:grpSpLocks noChangeAspect="1"/>
          </p:cNvGrpSpPr>
          <p:nvPr/>
        </p:nvGrpSpPr>
        <p:grpSpPr>
          <a:xfrm>
            <a:off x="2517549" y="4360229"/>
            <a:ext cx="2994608" cy="1810329"/>
            <a:chOff x="1702280" y="4419779"/>
            <a:chExt cx="2994608" cy="181032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B6BEC2E-9368-8BB1-761D-EC99FA48F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333366"/>
                </a:clrFrom>
                <a:clrTo>
                  <a:srgbClr val="33336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2280" y="4419779"/>
              <a:ext cx="2994608" cy="1810329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7A774AD-7FA9-75F8-28BA-967E5DCF5007}"/>
                </a:ext>
              </a:extLst>
            </p:cNvPr>
            <p:cNvSpPr/>
            <p:nvPr/>
          </p:nvSpPr>
          <p:spPr>
            <a:xfrm>
              <a:off x="1761904" y="4481171"/>
              <a:ext cx="320040" cy="292608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F31487E-C81A-620A-1B5C-78BBC5F18487}"/>
              </a:ext>
            </a:extLst>
          </p:cNvPr>
          <p:cNvSpPr txBox="1"/>
          <p:nvPr/>
        </p:nvSpPr>
        <p:spPr>
          <a:xfrm>
            <a:off x="8068773" y="3248576"/>
            <a:ext cx="181956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pPr marL="0" indent="0">
              <a:buNone/>
            </a:pPr>
            <a:r>
              <a:rPr lang="en-US"/>
              <a:t>Locators :: 2 Nos.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8F87B1-84FD-14F5-DAFA-9C55FF5402CC}"/>
              </a:ext>
            </a:extLst>
          </p:cNvPr>
          <p:cNvSpPr txBox="1"/>
          <p:nvPr/>
        </p:nvSpPr>
        <p:spPr>
          <a:xfrm>
            <a:off x="7233134" y="1540768"/>
            <a:ext cx="4725227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GB" dirty="0"/>
              <a:t>Locating &amp; mounting scheme is highlighted in image from reference program.</a:t>
            </a:r>
          </a:p>
          <a:p>
            <a:r>
              <a:rPr lang="en-GB" dirty="0"/>
              <a:t>It’s recommended to use snap mounting for the serviceability. </a:t>
            </a:r>
          </a:p>
          <a:p>
            <a:r>
              <a:rPr lang="en-GB" dirty="0"/>
              <a:t>Ref. EI_V8EM-17K945-AA--L460 SV 28 MY FR BMPRLWG GRL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546E19-AA77-1FBF-DA2B-35E1A794A7EB}"/>
              </a:ext>
            </a:extLst>
          </p:cNvPr>
          <p:cNvCxnSpPr>
            <a:cxnSpLocks/>
          </p:cNvCxnSpPr>
          <p:nvPr/>
        </p:nvCxnSpPr>
        <p:spPr>
          <a:xfrm>
            <a:off x="3549621" y="3224172"/>
            <a:ext cx="0" cy="6096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BEF3E94-81EC-A664-B8E2-83C9146DD5DE}"/>
              </a:ext>
            </a:extLst>
          </p:cNvPr>
          <p:cNvCxnSpPr>
            <a:cxnSpLocks/>
          </p:cNvCxnSpPr>
          <p:nvPr/>
        </p:nvCxnSpPr>
        <p:spPr>
          <a:xfrm flipH="1">
            <a:off x="3549620" y="3298063"/>
            <a:ext cx="517237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590FC7F-A197-93C2-ACF4-7EE536221020}"/>
              </a:ext>
            </a:extLst>
          </p:cNvPr>
          <p:cNvCxnSpPr>
            <a:cxnSpLocks/>
          </p:cNvCxnSpPr>
          <p:nvPr/>
        </p:nvCxnSpPr>
        <p:spPr>
          <a:xfrm flipH="1">
            <a:off x="3549621" y="3778356"/>
            <a:ext cx="49876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86AFF8C-DEA5-C711-B828-1788D77A2781}"/>
              </a:ext>
            </a:extLst>
          </p:cNvPr>
          <p:cNvSpPr txBox="1"/>
          <p:nvPr/>
        </p:nvSpPr>
        <p:spPr>
          <a:xfrm>
            <a:off x="2513232" y="5879871"/>
            <a:ext cx="182070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 b="0"/>
            </a:lvl1pPr>
          </a:lstStyle>
          <a:p>
            <a:r>
              <a:rPr lang="en-US"/>
              <a:t>Mounting Snap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E8CCE9C-DFCD-7461-D21D-EE8EC01FDD73}"/>
              </a:ext>
            </a:extLst>
          </p:cNvPr>
          <p:cNvCxnSpPr>
            <a:cxnSpLocks/>
            <a:stCxn id="34" idx="1"/>
          </p:cNvCxnSpPr>
          <p:nvPr/>
        </p:nvCxnSpPr>
        <p:spPr>
          <a:xfrm rot="10800000" flipV="1">
            <a:off x="5000022" y="4729738"/>
            <a:ext cx="999465" cy="309185"/>
          </a:xfrm>
          <a:prstGeom prst="bentConnector3">
            <a:avLst>
              <a:gd name="adj1" fmla="val 38765"/>
            </a:avLst>
          </a:prstGeom>
          <a:ln w="9525">
            <a:solidFill>
              <a:srgbClr val="C74EFF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23C93DA-03E0-6311-8971-1B956759D7B6}"/>
              </a:ext>
            </a:extLst>
          </p:cNvPr>
          <p:cNvSpPr txBox="1"/>
          <p:nvPr/>
        </p:nvSpPr>
        <p:spPr>
          <a:xfrm>
            <a:off x="5999486" y="4606628"/>
            <a:ext cx="1140616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/>
              <a:t>Radome Cover</a:t>
            </a:r>
            <a:endParaRPr lang="en-IN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7B84391F-072E-E0F9-F08E-E333B67AD7CA}"/>
              </a:ext>
            </a:extLst>
          </p:cNvPr>
          <p:cNvCxnSpPr>
            <a:cxnSpLocks/>
            <a:stCxn id="39" idx="1"/>
          </p:cNvCxnSpPr>
          <p:nvPr/>
        </p:nvCxnSpPr>
        <p:spPr>
          <a:xfrm rot="10800000">
            <a:off x="5121540" y="5753319"/>
            <a:ext cx="877947" cy="477561"/>
          </a:xfrm>
          <a:prstGeom prst="bentConnector3">
            <a:avLst>
              <a:gd name="adj1" fmla="val 35596"/>
            </a:avLst>
          </a:prstGeom>
          <a:ln w="9525">
            <a:solidFill>
              <a:srgbClr val="C74EFF"/>
            </a:solidFill>
            <a:headEnd type="none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F925FED-D896-A1F1-4FB5-0B21C2952644}"/>
              </a:ext>
            </a:extLst>
          </p:cNvPr>
          <p:cNvSpPr txBox="1"/>
          <p:nvPr/>
        </p:nvSpPr>
        <p:spPr>
          <a:xfrm>
            <a:off x="5999486" y="6107768"/>
            <a:ext cx="1140616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/>
              <a:t>FR LWR GRL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DF66B6-363D-7982-BDCF-2320D7BDFE7A}"/>
              </a:ext>
            </a:extLst>
          </p:cNvPr>
          <p:cNvSpPr/>
          <p:nvPr/>
        </p:nvSpPr>
        <p:spPr>
          <a:xfrm>
            <a:off x="5999486" y="3387076"/>
            <a:ext cx="499894" cy="3712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786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rudia 3">
            <a:extLst>
              <a:ext uri="{FF2B5EF4-FFF2-40B4-BE49-F238E27FC236}">
                <a16:creationId xmlns:a16="http://schemas.microsoft.com/office/drawing/2014/main" id="{D437B839-20D9-B050-5FC7-5037CF661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53" y="2053487"/>
            <a:ext cx="5492447" cy="29491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C491CB-02A3-6CBB-5268-764F6884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Heating element :: Packaging Requirements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64940C-1E76-5A2C-AA3E-745A4D096AD7}"/>
              </a:ext>
            </a:extLst>
          </p:cNvPr>
          <p:cNvSpPr txBox="1"/>
          <p:nvPr/>
        </p:nvSpPr>
        <p:spPr>
          <a:xfrm>
            <a:off x="451152" y="5600060"/>
            <a:ext cx="630257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GB"/>
              <a:t>A 0,5mm GAP is required between the grille and the carrier as shown in section as per supplier input. :: It’s need to be approved from JLR design team &amp; DVA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8A3799-8930-59D0-0BFF-C61457B07B04}"/>
              </a:ext>
            </a:extLst>
          </p:cNvPr>
          <p:cNvGrpSpPr>
            <a:grpSpLocks noChangeAspect="1"/>
          </p:cNvGrpSpPr>
          <p:nvPr/>
        </p:nvGrpSpPr>
        <p:grpSpPr>
          <a:xfrm>
            <a:off x="7671502" y="1550643"/>
            <a:ext cx="4237900" cy="2603068"/>
            <a:chOff x="8118974" y="1696559"/>
            <a:chExt cx="2490107" cy="1529512"/>
          </a:xfrm>
        </p:grpSpPr>
        <p:pic>
          <p:nvPicPr>
            <p:cNvPr id="4" name="Irudia 7">
              <a:extLst>
                <a:ext uri="{FF2B5EF4-FFF2-40B4-BE49-F238E27FC236}">
                  <a16:creationId xmlns:a16="http://schemas.microsoft.com/office/drawing/2014/main" id="{184DD257-EEE9-419E-A612-1C347854A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333366"/>
                </a:clrFrom>
                <a:clrTo>
                  <a:srgbClr val="33336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118974" y="1696559"/>
              <a:ext cx="2490107" cy="1529512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30566C-C4FF-A9E3-CE3A-4397D6E7130C}"/>
                </a:ext>
              </a:extLst>
            </p:cNvPr>
            <p:cNvCxnSpPr/>
            <p:nvPr/>
          </p:nvCxnSpPr>
          <p:spPr>
            <a:xfrm flipH="1">
              <a:off x="8746067" y="2599267"/>
              <a:ext cx="59267" cy="559071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4A8D99F-EF18-AE61-2C4E-8A565138C357}"/>
                </a:ext>
              </a:extLst>
            </p:cNvPr>
            <p:cNvCxnSpPr/>
            <p:nvPr/>
          </p:nvCxnSpPr>
          <p:spPr>
            <a:xfrm flipV="1">
              <a:off x="8348134" y="2717800"/>
              <a:ext cx="457200" cy="101600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4D68A55-31D4-974D-72EB-F11E4C9B405E}"/>
                </a:ext>
              </a:extLst>
            </p:cNvPr>
            <p:cNvCxnSpPr/>
            <p:nvPr/>
          </p:nvCxnSpPr>
          <p:spPr>
            <a:xfrm flipV="1">
              <a:off x="8288867" y="3039805"/>
              <a:ext cx="457200" cy="101600"/>
            </a:xfrm>
            <a:prstGeom prst="straightConnector1">
              <a:avLst/>
            </a:prstGeom>
            <a:ln w="190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E0D7D37-0FDA-5639-F129-59E63FB193E9}"/>
              </a:ext>
            </a:extLst>
          </p:cNvPr>
          <p:cNvSpPr txBox="1"/>
          <p:nvPr/>
        </p:nvSpPr>
        <p:spPr>
          <a:xfrm>
            <a:off x="8269610" y="3964148"/>
            <a:ext cx="160171" cy="26161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/>
              <a:t>A</a:t>
            </a:r>
            <a:endParaRPr lang="en-GB" sz="11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76BCD9-8CD2-CB0D-99ED-DC191B207B0D}"/>
              </a:ext>
            </a:extLst>
          </p:cNvPr>
          <p:cNvSpPr txBox="1"/>
          <p:nvPr/>
        </p:nvSpPr>
        <p:spPr>
          <a:xfrm>
            <a:off x="8290390" y="3007828"/>
            <a:ext cx="160171" cy="26161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/>
              <a:t>A</a:t>
            </a:r>
            <a:endParaRPr lang="en-GB" sz="11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A9C967-7B92-7C50-1039-F3BA71D60335}"/>
              </a:ext>
            </a:extLst>
          </p:cNvPr>
          <p:cNvSpPr txBox="1"/>
          <p:nvPr/>
        </p:nvSpPr>
        <p:spPr>
          <a:xfrm>
            <a:off x="2623403" y="5086317"/>
            <a:ext cx="1147945" cy="261610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/>
              <a:t>Section A-A</a:t>
            </a:r>
            <a:endParaRPr lang="en-GB" sz="1100" b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8CBB69-7F96-92B8-3DF9-3B63631F5D85}"/>
              </a:ext>
            </a:extLst>
          </p:cNvPr>
          <p:cNvSpPr/>
          <p:nvPr/>
        </p:nvSpPr>
        <p:spPr>
          <a:xfrm>
            <a:off x="451153" y="3288687"/>
            <a:ext cx="764804" cy="1487594"/>
          </a:xfrm>
          <a:prstGeom prst="ellipse">
            <a:avLst/>
          </a:prstGeom>
          <a:noFill/>
          <a:ln>
            <a:solidFill>
              <a:srgbClr val="C74E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42EAB-B2AE-5AA3-90E2-DF3DAFCCBD44}"/>
              </a:ext>
            </a:extLst>
          </p:cNvPr>
          <p:cNvSpPr txBox="1"/>
          <p:nvPr/>
        </p:nvSpPr>
        <p:spPr>
          <a:xfrm>
            <a:off x="6900333" y="4621087"/>
            <a:ext cx="520754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Thickness Consideration ::</a:t>
            </a:r>
          </a:p>
          <a:p>
            <a:pPr marL="628617" lvl="1" indent="-171450">
              <a:buFont typeface="Arial" panose="020B0604020202020204" pitchFamily="34" charset="0"/>
              <a:buChar char="•"/>
            </a:pPr>
            <a:r>
              <a:rPr lang="en-GB" sz="1200" dirty="0"/>
              <a:t>Part thickness is 5.8mm </a:t>
            </a:r>
          </a:p>
          <a:p>
            <a:pPr lvl="1"/>
            <a:r>
              <a:rPr lang="en-GB" sz="1200" dirty="0"/>
              <a:t>(Radome Aesthetical Portion 3.1mm </a:t>
            </a:r>
            <a:r>
              <a:rPr lang="en-GB" sz="1200" dirty="0" err="1"/>
              <a:t>thk</a:t>
            </a:r>
            <a:endParaRPr lang="en-GB" sz="1200" dirty="0"/>
          </a:p>
          <a:p>
            <a:pPr lvl="1"/>
            <a:r>
              <a:rPr lang="en-GB" sz="1200" dirty="0"/>
              <a:t> + Radome Technical Portion 2.7mm </a:t>
            </a:r>
            <a:r>
              <a:rPr lang="en-GB" sz="1200" dirty="0" err="1"/>
              <a:t>thk</a:t>
            </a:r>
            <a:r>
              <a:rPr lang="en-GB" sz="1200" dirty="0"/>
              <a:t> )</a:t>
            </a:r>
          </a:p>
          <a:p>
            <a:pPr lvl="1"/>
            <a:endParaRPr lang="en-GB" sz="1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Material Consideration ::</a:t>
            </a:r>
          </a:p>
          <a:p>
            <a:pPr marL="742917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PC+ABS</a:t>
            </a:r>
          </a:p>
          <a:p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01FFC7-EBDF-2D41-D224-822916815A79}"/>
              </a:ext>
            </a:extLst>
          </p:cNvPr>
          <p:cNvCxnSpPr/>
          <p:nvPr/>
        </p:nvCxnSpPr>
        <p:spPr>
          <a:xfrm>
            <a:off x="1989667" y="2896807"/>
            <a:ext cx="948266" cy="7912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FEE633B-2541-E132-377E-F8DB87E0FFF0}"/>
              </a:ext>
            </a:extLst>
          </p:cNvPr>
          <p:cNvSpPr txBox="1"/>
          <p:nvPr/>
        </p:nvSpPr>
        <p:spPr>
          <a:xfrm>
            <a:off x="2864802" y="2776256"/>
            <a:ext cx="864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5.8mm</a:t>
            </a:r>
            <a:endParaRPr lang="en-GB" sz="1200" b="1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372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AFDA-9F7F-BA78-0C2A-419355DB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Heating element :: Packaging Requirements / reference</a:t>
            </a:r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37E28A9-3CE7-A2F0-72A1-C4741114933E}"/>
              </a:ext>
            </a:extLst>
          </p:cNvPr>
          <p:cNvGrpSpPr>
            <a:grpSpLocks noChangeAspect="1"/>
          </p:cNvGrpSpPr>
          <p:nvPr/>
        </p:nvGrpSpPr>
        <p:grpSpPr>
          <a:xfrm>
            <a:off x="583181" y="1449827"/>
            <a:ext cx="3286370" cy="4060636"/>
            <a:chOff x="1779684" y="1399032"/>
            <a:chExt cx="3931305" cy="485751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3DAD944-B2D1-9E0D-F21F-E941E1DBE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9684" y="1399032"/>
              <a:ext cx="3057492" cy="4857518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410F16D-89E2-59E5-77B5-6E9FA6160451}"/>
                </a:ext>
              </a:extLst>
            </p:cNvPr>
            <p:cNvCxnSpPr/>
            <p:nvPr/>
          </p:nvCxnSpPr>
          <p:spPr>
            <a:xfrm flipV="1">
              <a:off x="3320716" y="2638926"/>
              <a:ext cx="2390273" cy="593558"/>
            </a:xfrm>
            <a:prstGeom prst="line">
              <a:avLst/>
            </a:prstGeom>
            <a:ln>
              <a:solidFill>
                <a:srgbClr val="C74E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B45C0C-BC2D-2AB1-4F72-534CED2C63FF}"/>
                </a:ext>
              </a:extLst>
            </p:cNvPr>
            <p:cNvCxnSpPr>
              <a:cxnSpLocks/>
            </p:cNvCxnSpPr>
            <p:nvPr/>
          </p:nvCxnSpPr>
          <p:spPr>
            <a:xfrm>
              <a:off x="3320716" y="5065936"/>
              <a:ext cx="2229852" cy="661096"/>
            </a:xfrm>
            <a:prstGeom prst="line">
              <a:avLst/>
            </a:prstGeom>
            <a:ln>
              <a:solidFill>
                <a:srgbClr val="C74E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3393A16-A090-FAD2-33CD-72C33081BCC8}"/>
              </a:ext>
            </a:extLst>
          </p:cNvPr>
          <p:cNvGrpSpPr>
            <a:grpSpLocks noChangeAspect="1"/>
          </p:cNvGrpSpPr>
          <p:nvPr/>
        </p:nvGrpSpPr>
        <p:grpSpPr>
          <a:xfrm>
            <a:off x="6397852" y="2110902"/>
            <a:ext cx="4755850" cy="2003898"/>
            <a:chOff x="5526656" y="2110902"/>
            <a:chExt cx="5627046" cy="23709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22FE53-476E-DBA2-13DC-B2E8FBD72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6656" y="2220207"/>
              <a:ext cx="5627046" cy="2261675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7605C87-F947-287D-92D5-3B9A789775F2}"/>
                </a:ext>
              </a:extLst>
            </p:cNvPr>
            <p:cNvCxnSpPr/>
            <p:nvPr/>
          </p:nvCxnSpPr>
          <p:spPr>
            <a:xfrm>
              <a:off x="6994187" y="2110902"/>
              <a:ext cx="0" cy="1935804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C849B41-CFC6-7237-65A3-8C7790B4773C}"/>
                </a:ext>
              </a:extLst>
            </p:cNvPr>
            <p:cNvCxnSpPr/>
            <p:nvPr/>
          </p:nvCxnSpPr>
          <p:spPr>
            <a:xfrm>
              <a:off x="6682902" y="2305455"/>
              <a:ext cx="330741" cy="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BF31507-50AC-7AD4-953C-86EA3676A285}"/>
                </a:ext>
              </a:extLst>
            </p:cNvPr>
            <p:cNvCxnSpPr/>
            <p:nvPr/>
          </p:nvCxnSpPr>
          <p:spPr>
            <a:xfrm>
              <a:off x="6663446" y="3918235"/>
              <a:ext cx="330741" cy="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7019DE6-070D-F7A6-2123-0DED14892857}"/>
              </a:ext>
            </a:extLst>
          </p:cNvPr>
          <p:cNvSpPr txBox="1"/>
          <p:nvPr/>
        </p:nvSpPr>
        <p:spPr>
          <a:xfrm>
            <a:off x="280835" y="5264242"/>
            <a:ext cx="876918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ADAS Unit</a:t>
            </a:r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65F0AD-27B8-3398-71F7-4FFB827EDA3C}"/>
              </a:ext>
            </a:extLst>
          </p:cNvPr>
          <p:cNvSpPr txBox="1"/>
          <p:nvPr/>
        </p:nvSpPr>
        <p:spPr>
          <a:xfrm>
            <a:off x="3424775" y="5442661"/>
            <a:ext cx="1129140" cy="415498"/>
          </a:xfrm>
          <a:prstGeom prst="rect">
            <a:avLst/>
          </a:prstGeom>
          <a:solidFill>
            <a:schemeClr val="accent6">
              <a:lumMod val="20000"/>
              <a:lumOff val="80000"/>
              <a:alpha val="5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LOWER GRILLE</a:t>
            </a:r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17FAF9-96FB-B2BA-0C4B-70A5E13214D7}"/>
              </a:ext>
            </a:extLst>
          </p:cNvPr>
          <p:cNvSpPr txBox="1"/>
          <p:nvPr/>
        </p:nvSpPr>
        <p:spPr>
          <a:xfrm>
            <a:off x="4569493" y="3829667"/>
            <a:ext cx="937977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ADAS FOV</a:t>
            </a:r>
            <a:endParaRPr lang="en-IN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5F37A71-E147-3AE7-DD47-7587ACF87580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2863517" y="5293896"/>
            <a:ext cx="561259" cy="356515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90B14B0-7DD5-A3C1-5DDB-3B8DB7EFD849}"/>
              </a:ext>
            </a:extLst>
          </p:cNvPr>
          <p:cNvCxnSpPr>
            <a:cxnSpLocks/>
            <a:stCxn id="19" idx="0"/>
          </p:cNvCxnSpPr>
          <p:nvPr/>
        </p:nvCxnSpPr>
        <p:spPr>
          <a:xfrm rot="16200000" flipV="1">
            <a:off x="3687703" y="2478888"/>
            <a:ext cx="1257282" cy="1444276"/>
          </a:xfrm>
          <a:prstGeom prst="bentConnector2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4B16C96-9614-65CA-7035-FF540F8E6B80}"/>
              </a:ext>
            </a:extLst>
          </p:cNvPr>
          <p:cNvCxnSpPr>
            <a:cxnSpLocks/>
            <a:stCxn id="19" idx="2"/>
          </p:cNvCxnSpPr>
          <p:nvPr/>
        </p:nvCxnSpPr>
        <p:spPr>
          <a:xfrm rot="5400000">
            <a:off x="3779292" y="3721372"/>
            <a:ext cx="904674" cy="1613707"/>
          </a:xfrm>
          <a:prstGeom prst="bentConnector2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C33ED96-7380-6EE5-F403-64BAC476E2F4}"/>
              </a:ext>
            </a:extLst>
          </p:cNvPr>
          <p:cNvSpPr txBox="1"/>
          <p:nvPr/>
        </p:nvSpPr>
        <p:spPr>
          <a:xfrm>
            <a:off x="452914" y="1716583"/>
            <a:ext cx="1170768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ADAS BRACKET</a:t>
            </a:r>
            <a:endParaRPr lang="en-IN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CD205894-6BF3-C47F-FE75-B8DEA94306FE}"/>
              </a:ext>
            </a:extLst>
          </p:cNvPr>
          <p:cNvCxnSpPr>
            <a:cxnSpLocks/>
            <a:stCxn id="38" idx="2"/>
          </p:cNvCxnSpPr>
          <p:nvPr/>
        </p:nvCxnSpPr>
        <p:spPr>
          <a:xfrm rot="16200000" flipH="1">
            <a:off x="753937" y="2247165"/>
            <a:ext cx="692580" cy="123858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E9E580E-213D-0F16-EBB8-7E8A6D82BCF7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 flipH="1">
            <a:off x="280835" y="4571663"/>
            <a:ext cx="1098786" cy="815691"/>
          </a:xfrm>
          <a:prstGeom prst="bentConnector3">
            <a:avLst>
              <a:gd name="adj1" fmla="val -4745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oval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71A8A51-4750-B235-5A31-DBF06DFABBE9}"/>
              </a:ext>
            </a:extLst>
          </p:cNvPr>
          <p:cNvSpPr txBox="1"/>
          <p:nvPr/>
        </p:nvSpPr>
        <p:spPr>
          <a:xfrm>
            <a:off x="2948566" y="3723056"/>
            <a:ext cx="1129140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Radome Cover</a:t>
            </a:r>
            <a:endParaRPr lang="en-IN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2F8A4777-6849-01DC-D2AD-BD6D433FDC25}"/>
              </a:ext>
            </a:extLst>
          </p:cNvPr>
          <p:cNvCxnSpPr>
            <a:cxnSpLocks/>
            <a:stCxn id="57" idx="1"/>
          </p:cNvCxnSpPr>
          <p:nvPr/>
        </p:nvCxnSpPr>
        <p:spPr>
          <a:xfrm rot="10800000">
            <a:off x="2387310" y="3489655"/>
            <a:ext cx="561257" cy="356513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188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CEC2-4C4E-23D6-93F7-494EA327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red and green rectangular object with a hole&#10;&#10;AI-generated content may be incorrect.">
            <a:extLst>
              <a:ext uri="{FF2B5EF4-FFF2-40B4-BE49-F238E27FC236}">
                <a16:creationId xmlns:a16="http://schemas.microsoft.com/office/drawing/2014/main" id="{68833A25-5284-9BC5-FE88-E4BB23D46C4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647" y="1922948"/>
            <a:ext cx="1271272" cy="5675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86B1C0-6FEC-A948-E315-F26BC6427A1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3264" y="1522129"/>
            <a:ext cx="4860465" cy="237557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CC05E0D-772E-31A3-0599-8384C86BC4FA}"/>
              </a:ext>
            </a:extLst>
          </p:cNvPr>
          <p:cNvGrpSpPr>
            <a:grpSpLocks noChangeAspect="1"/>
          </p:cNvGrpSpPr>
          <p:nvPr/>
        </p:nvGrpSpPr>
        <p:grpSpPr>
          <a:xfrm>
            <a:off x="2538919" y="4309353"/>
            <a:ext cx="2974095" cy="2029868"/>
            <a:chOff x="2538919" y="4309353"/>
            <a:chExt cx="2974095" cy="202986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1B79AC3-2D83-6258-031F-EE8A70B62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333366"/>
                </a:clrFrom>
                <a:clrTo>
                  <a:srgbClr val="33336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763692" y="5125148"/>
              <a:ext cx="1592762" cy="97289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D16D74A-E2F9-D48B-7C5E-267794705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42380" y="4443103"/>
              <a:ext cx="1949440" cy="831778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049D7D-6D05-9EA5-F362-3DEC6E7208E0}"/>
                </a:ext>
              </a:extLst>
            </p:cNvPr>
            <p:cNvSpPr/>
            <p:nvPr/>
          </p:nvSpPr>
          <p:spPr>
            <a:xfrm>
              <a:off x="2538919" y="4309353"/>
              <a:ext cx="2974095" cy="2029868"/>
            </a:xfrm>
            <a:prstGeom prst="rect">
              <a:avLst/>
            </a:prstGeom>
            <a:noFill/>
            <a:ln>
              <a:solidFill>
                <a:srgbClr val="FF0000">
                  <a:alpha val="6000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Plus Sign 45">
              <a:extLst>
                <a:ext uri="{FF2B5EF4-FFF2-40B4-BE49-F238E27FC236}">
                  <a16:creationId xmlns:a16="http://schemas.microsoft.com/office/drawing/2014/main" id="{773581DC-CC14-F376-C211-8E9E38D59F59}"/>
                </a:ext>
              </a:extLst>
            </p:cNvPr>
            <p:cNvSpPr/>
            <p:nvPr/>
          </p:nvSpPr>
          <p:spPr>
            <a:xfrm>
              <a:off x="4242195" y="5040173"/>
              <a:ext cx="223736" cy="260157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529CCB55-5F53-5151-7797-E2BE29AA0B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065" y="2683783"/>
            <a:ext cx="3429077" cy="1602320"/>
          </a:xfrm>
          <a:prstGeom prst="rect">
            <a:avLst/>
          </a:prstGeom>
        </p:spPr>
      </p:pic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5599907-17EC-4CCD-D19B-76E2155D99E5}"/>
              </a:ext>
            </a:extLst>
          </p:cNvPr>
          <p:cNvCxnSpPr>
            <a:cxnSpLocks/>
            <a:stCxn id="33" idx="1"/>
          </p:cNvCxnSpPr>
          <p:nvPr/>
        </p:nvCxnSpPr>
        <p:spPr>
          <a:xfrm rot="10800000" flipV="1">
            <a:off x="4075881" y="3897702"/>
            <a:ext cx="890029" cy="963777"/>
          </a:xfrm>
          <a:prstGeom prst="bentConnector2">
            <a:avLst/>
          </a:prstGeom>
          <a:ln w="15875">
            <a:solidFill>
              <a:srgbClr val="C74EFF"/>
            </a:solidFill>
            <a:prstDash val="sysDash"/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7A86B3-6AD1-017C-1185-E2C74B9F7AE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090A0B"/>
            </a:solidFill>
            <a:prstDash val="dash"/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Assembly Flight Path: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00B639-DC07-5E3B-E8E9-64E6884FDFB7}"/>
              </a:ext>
            </a:extLst>
          </p:cNvPr>
          <p:cNvCxnSpPr>
            <a:cxnSpLocks/>
          </p:cNvCxnSpPr>
          <p:nvPr/>
        </p:nvCxnSpPr>
        <p:spPr>
          <a:xfrm flipH="1" flipV="1">
            <a:off x="2599267" y="3175000"/>
            <a:ext cx="809863" cy="1067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93BD7A-5511-2183-77F1-9C53E7FDFBE4}"/>
              </a:ext>
            </a:extLst>
          </p:cNvPr>
          <p:cNvCxnSpPr>
            <a:cxnSpLocks/>
          </p:cNvCxnSpPr>
          <p:nvPr/>
        </p:nvCxnSpPr>
        <p:spPr>
          <a:xfrm>
            <a:off x="2028058" y="2401345"/>
            <a:ext cx="311573" cy="44670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9F3CA69-9939-19D2-544D-5B02B999A48B}"/>
              </a:ext>
            </a:extLst>
          </p:cNvPr>
          <p:cNvSpPr txBox="1"/>
          <p:nvPr/>
        </p:nvSpPr>
        <p:spPr>
          <a:xfrm>
            <a:off x="6628980" y="4354791"/>
            <a:ext cx="5256384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US" b="1"/>
              <a:t>ADAS unit assembly flight path:</a:t>
            </a:r>
          </a:p>
          <a:p>
            <a:endParaRPr lang="en-US"/>
          </a:p>
          <a:p>
            <a:r>
              <a:rPr lang="en-US"/>
              <a:t>ADAS unit will mount on ADAS bracket.</a:t>
            </a:r>
          </a:p>
          <a:p>
            <a:endParaRPr lang="en-US"/>
          </a:p>
          <a:p>
            <a:r>
              <a:rPr lang="en-US"/>
              <a:t>Heating Element gets In molded with Radome Cover. :: will be fitted from front side of LWR GRL</a:t>
            </a:r>
          </a:p>
          <a:p>
            <a:endParaRPr lang="en-US"/>
          </a:p>
          <a:p>
            <a:r>
              <a:rPr lang="en-US"/>
              <a:t>ADAS and ADAS Bracket will mount on Lower Grille in X :: will be fitted from back side of LWR GRL</a:t>
            </a:r>
          </a:p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7389D0-6610-CA92-47C5-0A202209DDD5}"/>
              </a:ext>
            </a:extLst>
          </p:cNvPr>
          <p:cNvSpPr txBox="1"/>
          <p:nvPr/>
        </p:nvSpPr>
        <p:spPr>
          <a:xfrm>
            <a:off x="4503882" y="2418324"/>
            <a:ext cx="1187064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/>
              <a:t>LOWER GRILLE</a:t>
            </a:r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8A08D0-82C8-8041-839E-C15204DADE15}"/>
              </a:ext>
            </a:extLst>
          </p:cNvPr>
          <p:cNvSpPr txBox="1"/>
          <p:nvPr/>
        </p:nvSpPr>
        <p:spPr>
          <a:xfrm>
            <a:off x="4965909" y="3774592"/>
            <a:ext cx="876918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/>
              <a:t>ADAS Unit</a:t>
            </a:r>
            <a:endParaRPr lang="en-IN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1AD94992-C131-5E16-CB94-48D161C5F540}"/>
              </a:ext>
            </a:extLst>
          </p:cNvPr>
          <p:cNvCxnSpPr>
            <a:cxnSpLocks/>
            <a:stCxn id="48" idx="1"/>
          </p:cNvCxnSpPr>
          <p:nvPr/>
        </p:nvCxnSpPr>
        <p:spPr>
          <a:xfrm rot="10800000" flipV="1">
            <a:off x="2499773" y="1761992"/>
            <a:ext cx="471223" cy="306608"/>
          </a:xfrm>
          <a:prstGeom prst="bentConnector3">
            <a:avLst>
              <a:gd name="adj1" fmla="val 50000"/>
            </a:avLst>
          </a:prstGeom>
          <a:ln w="9525">
            <a:solidFill>
              <a:srgbClr val="C74EFF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0FFE7FD-E413-71FD-FADB-043A1888ACDF}"/>
              </a:ext>
            </a:extLst>
          </p:cNvPr>
          <p:cNvSpPr txBox="1"/>
          <p:nvPr/>
        </p:nvSpPr>
        <p:spPr>
          <a:xfrm>
            <a:off x="2970995" y="1561937"/>
            <a:ext cx="1360718" cy="40011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/>
              <a:t>Radome Cover + Heating Element</a:t>
            </a:r>
            <a:endParaRPr lang="en-IN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CFAD374F-33F8-0091-A629-55476741110A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 flipV="1">
            <a:off x="3763692" y="2541435"/>
            <a:ext cx="740191" cy="281114"/>
          </a:xfrm>
          <a:prstGeom prst="bentConnector3">
            <a:avLst>
              <a:gd name="adj1" fmla="val 99940"/>
            </a:avLst>
          </a:prstGeom>
          <a:ln w="9525">
            <a:solidFill>
              <a:srgbClr val="C74EFF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02957B4-FFEF-293A-4F1D-398B507D95D4}"/>
              </a:ext>
            </a:extLst>
          </p:cNvPr>
          <p:cNvSpPr txBox="1"/>
          <p:nvPr/>
        </p:nvSpPr>
        <p:spPr>
          <a:xfrm>
            <a:off x="1192871" y="6000977"/>
            <a:ext cx="1187064" cy="40011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/>
              <a:t>ADAS MTG Bracker</a:t>
            </a:r>
            <a:endParaRPr lang="en-IN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E73794E8-3125-A946-F806-7C2DA2815671}"/>
              </a:ext>
            </a:extLst>
          </p:cNvPr>
          <p:cNvCxnSpPr>
            <a:cxnSpLocks/>
            <a:stCxn id="64" idx="3"/>
          </p:cNvCxnSpPr>
          <p:nvPr/>
        </p:nvCxnSpPr>
        <p:spPr>
          <a:xfrm flipV="1">
            <a:off x="2379935" y="5836596"/>
            <a:ext cx="1383757" cy="364436"/>
          </a:xfrm>
          <a:prstGeom prst="bentConnector3">
            <a:avLst>
              <a:gd name="adj1" fmla="val 50000"/>
            </a:avLst>
          </a:prstGeom>
          <a:ln w="15875">
            <a:solidFill>
              <a:srgbClr val="C74EFF"/>
            </a:solidFill>
            <a:prstDash val="sysDash"/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D12CF471-86F2-AFC6-5AF0-3FEF32FC189D}"/>
              </a:ext>
            </a:extLst>
          </p:cNvPr>
          <p:cNvGrpSpPr>
            <a:grpSpLocks noChangeAspect="1"/>
          </p:cNvGrpSpPr>
          <p:nvPr/>
        </p:nvGrpSpPr>
        <p:grpSpPr>
          <a:xfrm>
            <a:off x="3500744" y="5363592"/>
            <a:ext cx="106388" cy="108000"/>
            <a:chOff x="3449053" y="2759240"/>
            <a:chExt cx="529389" cy="53741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DA5855-0E89-F026-B065-3E6E4D580489}"/>
                </a:ext>
              </a:extLst>
            </p:cNvPr>
            <p:cNvSpPr/>
            <p:nvPr/>
          </p:nvSpPr>
          <p:spPr>
            <a:xfrm>
              <a:off x="3625516" y="2759241"/>
              <a:ext cx="352926" cy="3529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774F766-FAE7-C58E-BA5A-FBEF968AE8E7}"/>
                </a:ext>
              </a:extLst>
            </p:cNvPr>
            <p:cNvSpPr/>
            <p:nvPr/>
          </p:nvSpPr>
          <p:spPr>
            <a:xfrm>
              <a:off x="3449053" y="2935705"/>
              <a:ext cx="352926" cy="3529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D1BBE37-AC8A-1359-3D43-69529F9C1C24}"/>
                </a:ext>
              </a:extLst>
            </p:cNvPr>
            <p:cNvCxnSpPr/>
            <p:nvPr/>
          </p:nvCxnSpPr>
          <p:spPr>
            <a:xfrm flipV="1">
              <a:off x="3449053" y="2759241"/>
              <a:ext cx="176463" cy="1764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5C1685D-1F64-0914-02D3-D5D79243F626}"/>
                </a:ext>
              </a:extLst>
            </p:cNvPr>
            <p:cNvCxnSpPr/>
            <p:nvPr/>
          </p:nvCxnSpPr>
          <p:spPr>
            <a:xfrm flipV="1">
              <a:off x="3801978" y="3120187"/>
              <a:ext cx="176463" cy="1764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0B98974-E47D-F260-8D72-93C4C7920805}"/>
                </a:ext>
              </a:extLst>
            </p:cNvPr>
            <p:cNvCxnSpPr/>
            <p:nvPr/>
          </p:nvCxnSpPr>
          <p:spPr>
            <a:xfrm flipV="1">
              <a:off x="3801978" y="2759240"/>
              <a:ext cx="176463" cy="1764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3F367F-78FF-2F28-3B6B-69D8D47556D7}"/>
              </a:ext>
            </a:extLst>
          </p:cNvPr>
          <p:cNvCxnSpPr>
            <a:cxnSpLocks/>
          </p:cNvCxnSpPr>
          <p:nvPr/>
        </p:nvCxnSpPr>
        <p:spPr>
          <a:xfrm>
            <a:off x="3620341" y="5484484"/>
            <a:ext cx="227485" cy="183383"/>
          </a:xfrm>
          <a:prstGeom prst="straightConnector1">
            <a:avLst/>
          </a:prstGeom>
          <a:ln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DCF38ED-D17E-E753-CE49-D79460F950EC}"/>
              </a:ext>
            </a:extLst>
          </p:cNvPr>
          <p:cNvSpPr txBox="1"/>
          <p:nvPr/>
        </p:nvSpPr>
        <p:spPr>
          <a:xfrm>
            <a:off x="1194237" y="5436632"/>
            <a:ext cx="1187064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000" b="1"/>
            </a:lvl1pPr>
          </a:lstStyle>
          <a:p>
            <a:r>
              <a:rPr lang="en-US"/>
              <a:t>FR Camera</a:t>
            </a:r>
            <a:endParaRPr lang="en-IN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CA13E25-565B-2AD7-8393-45DC2289AE76}"/>
              </a:ext>
            </a:extLst>
          </p:cNvPr>
          <p:cNvCxnSpPr>
            <a:cxnSpLocks/>
            <a:stCxn id="26" idx="3"/>
            <a:endCxn id="9" idx="1"/>
          </p:cNvCxnSpPr>
          <p:nvPr/>
        </p:nvCxnSpPr>
        <p:spPr>
          <a:xfrm flipV="1">
            <a:off x="2381301" y="5434518"/>
            <a:ext cx="1119443" cy="125225"/>
          </a:xfrm>
          <a:prstGeom prst="bentConnector3">
            <a:avLst>
              <a:gd name="adj1" fmla="val 50000"/>
            </a:avLst>
          </a:prstGeom>
          <a:ln w="15875">
            <a:solidFill>
              <a:srgbClr val="C74EFF"/>
            </a:solidFill>
            <a:prstDash val="sysDash"/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101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cartoon of a machine&#10;&#10;AI-generated content may be incorrect.">
            <a:extLst>
              <a:ext uri="{FF2B5EF4-FFF2-40B4-BE49-F238E27FC236}">
                <a16:creationId xmlns:a16="http://schemas.microsoft.com/office/drawing/2014/main" id="{CE7FD9CD-5128-C951-FC22-DC2050E2A6C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320" y="1493189"/>
            <a:ext cx="3380410" cy="2164772"/>
          </a:xfrm>
          <a:prstGeom prst="rect">
            <a:avLst/>
          </a:prstGeom>
        </p:spPr>
      </p:pic>
      <p:pic>
        <p:nvPicPr>
          <p:cNvPr id="12" name="Picture 11" descr="A close up of a phone&#10;&#10;AI-generated content may be incorrect.">
            <a:extLst>
              <a:ext uri="{FF2B5EF4-FFF2-40B4-BE49-F238E27FC236}">
                <a16:creationId xmlns:a16="http://schemas.microsoft.com/office/drawing/2014/main" id="{4CFA6EB2-DC93-A570-E1FE-873758E1579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42" y="4115411"/>
            <a:ext cx="5757810" cy="1524236"/>
          </a:xfrm>
          <a:prstGeom prst="rect">
            <a:avLst/>
          </a:prstGeom>
        </p:spPr>
      </p:pic>
      <p:sp>
        <p:nvSpPr>
          <p:cNvPr id="10" name="Parallelogram 9">
            <a:extLst>
              <a:ext uri="{FF2B5EF4-FFF2-40B4-BE49-F238E27FC236}">
                <a16:creationId xmlns:a16="http://schemas.microsoft.com/office/drawing/2014/main" id="{C0F75717-9110-C370-B9BE-02E9695FCE04}"/>
              </a:ext>
            </a:extLst>
          </p:cNvPr>
          <p:cNvSpPr/>
          <p:nvPr/>
        </p:nvSpPr>
        <p:spPr>
          <a:xfrm>
            <a:off x="702617" y="4394123"/>
            <a:ext cx="4267968" cy="1103878"/>
          </a:xfrm>
          <a:prstGeom prst="parallelogram">
            <a:avLst>
              <a:gd name="adj" fmla="val 440"/>
            </a:avLst>
          </a:prstGeom>
          <a:noFill/>
          <a:ln w="19050">
            <a:solidFill>
              <a:srgbClr val="5FEC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DB02F-499C-599A-7872-9D0880CA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element :: Manufacturing Process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610C9-F572-2A2C-7054-E57F3AE94F50}"/>
              </a:ext>
            </a:extLst>
          </p:cNvPr>
          <p:cNvSpPr txBox="1"/>
          <p:nvPr/>
        </p:nvSpPr>
        <p:spPr>
          <a:xfrm>
            <a:off x="4415871" y="3723347"/>
            <a:ext cx="1180596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 sz="900" dirty="0"/>
              <a:t>COPPER WIRES</a:t>
            </a:r>
            <a:endParaRPr lang="en-IN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705D8-3ED1-9788-6F1B-FE5B0D6EB7EE}"/>
              </a:ext>
            </a:extLst>
          </p:cNvPr>
          <p:cNvSpPr txBox="1"/>
          <p:nvPr/>
        </p:nvSpPr>
        <p:spPr>
          <a:xfrm>
            <a:off x="6883615" y="1804341"/>
            <a:ext cx="4864101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US" sz="1600" dirty="0"/>
              <a:t>Heating element copper wire is shown in image for reference.</a:t>
            </a:r>
          </a:p>
          <a:p>
            <a:r>
              <a:rPr lang="en-US" sz="1600" dirty="0"/>
              <a:t>This portion of Radome Cover will be formed in the 1</a:t>
            </a:r>
            <a:r>
              <a:rPr lang="en-US" sz="1600" baseline="30000" dirty="0"/>
              <a:t>st</a:t>
            </a:r>
            <a:r>
              <a:rPr lang="en-US" sz="1600" dirty="0"/>
              <a:t> stage of 2K-Injection moulding process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D7ADB48-ADEB-F7D9-5512-059746B8DA6F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4308453" y="3838762"/>
            <a:ext cx="107418" cy="516439"/>
          </a:xfrm>
          <a:prstGeom prst="bentConnector2">
            <a:avLst/>
          </a:prstGeom>
          <a:ln w="15875">
            <a:solidFill>
              <a:srgbClr val="C74EFF"/>
            </a:solidFill>
            <a:prstDash val="sysDash"/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>
            <a:extLst>
              <a:ext uri="{FF2B5EF4-FFF2-40B4-BE49-F238E27FC236}">
                <a16:creationId xmlns:a16="http://schemas.microsoft.com/office/drawing/2014/main" id="{DF0821E2-D78B-9F91-C714-95C0D876F3B5}"/>
              </a:ext>
            </a:extLst>
          </p:cNvPr>
          <p:cNvSpPr txBox="1">
            <a:spLocks/>
          </p:cNvSpPr>
          <p:nvPr/>
        </p:nvSpPr>
        <p:spPr>
          <a:xfrm>
            <a:off x="9887128" y="6180672"/>
            <a:ext cx="2145987" cy="3174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800" b="0" i="0" kern="1200" dirty="0">
                <a:solidFill>
                  <a:srgbClr val="0000B3"/>
                </a:solidFill>
                <a:latin typeface="DM Sans" pitchFamily="2" charset="77"/>
                <a:ea typeface="+mj-ea"/>
                <a:cs typeface="+mj-cs"/>
              </a:defRPr>
            </a:lvl1pPr>
          </a:lstStyle>
          <a:p>
            <a:r>
              <a:rPr lang="en-GB" sz="1800"/>
              <a:t>REFER NEXT SLIDE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18F760-E6BA-885F-445E-EF271C1DF080}"/>
              </a:ext>
            </a:extLst>
          </p:cNvPr>
          <p:cNvSpPr txBox="1"/>
          <p:nvPr/>
        </p:nvSpPr>
        <p:spPr>
          <a:xfrm>
            <a:off x="4327908" y="5739367"/>
            <a:ext cx="118059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 sz="900" dirty="0"/>
              <a:t>CONNECTOR PORT</a:t>
            </a:r>
            <a:endParaRPr lang="en-IN" sz="900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53D758B-5B17-BB81-8035-0B807E57AA72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508504" y="4935422"/>
            <a:ext cx="268937" cy="988611"/>
          </a:xfrm>
          <a:prstGeom prst="bentConnector2">
            <a:avLst/>
          </a:prstGeom>
          <a:ln w="15875">
            <a:solidFill>
              <a:srgbClr val="C74EFF"/>
            </a:solidFill>
            <a:prstDash val="sysDash"/>
            <a:headEnd type="none" w="med" len="lg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02451B-376D-92F1-BAE8-ED18406DA63D}"/>
              </a:ext>
            </a:extLst>
          </p:cNvPr>
          <p:cNvSpPr txBox="1"/>
          <p:nvPr/>
        </p:nvSpPr>
        <p:spPr>
          <a:xfrm>
            <a:off x="2162322" y="3696433"/>
            <a:ext cx="1180596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 sz="900" dirty="0"/>
              <a:t>FOIL</a:t>
            </a:r>
            <a:endParaRPr lang="en-IN" sz="900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AABDD016-2A3B-3916-FC05-27326EBE4A0A}"/>
              </a:ext>
            </a:extLst>
          </p:cNvPr>
          <p:cNvCxnSpPr>
            <a:cxnSpLocks/>
            <a:stCxn id="20" idx="3"/>
          </p:cNvCxnSpPr>
          <p:nvPr/>
        </p:nvCxnSpPr>
        <p:spPr>
          <a:xfrm flipH="1">
            <a:off x="3318099" y="3811849"/>
            <a:ext cx="24819" cy="657247"/>
          </a:xfrm>
          <a:prstGeom prst="bentConnector4">
            <a:avLst>
              <a:gd name="adj1" fmla="val -921069"/>
              <a:gd name="adj2" fmla="val 58780"/>
            </a:avLst>
          </a:prstGeom>
          <a:ln w="15875">
            <a:solidFill>
              <a:srgbClr val="C74EFF"/>
            </a:solidFill>
            <a:prstDash val="sysDash"/>
            <a:headEnd type="none" w="med" len="lg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A red rectangular object with holes&#10;&#10;AI-generated content may be incorrect.">
            <a:extLst>
              <a:ext uri="{FF2B5EF4-FFF2-40B4-BE49-F238E27FC236}">
                <a16:creationId xmlns:a16="http://schemas.microsoft.com/office/drawing/2014/main" id="{1C4D581D-C6C9-CF76-9D2D-6A0F261A382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84" y="1464958"/>
            <a:ext cx="2985973" cy="214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84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9C81C-702B-1CD2-2F4C-5794935D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68A05-B92A-D3EC-C5D0-13FF7B02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element :: Moulding Process</a:t>
            </a:r>
            <a:endParaRPr lang="en-GB" dirty="0"/>
          </a:p>
        </p:txBody>
      </p:sp>
      <p:pic>
        <p:nvPicPr>
          <p:cNvPr id="6" name="Picture 5" descr="A green rectangular object with holes&#10;&#10;AI-generated content may be incorrect.">
            <a:extLst>
              <a:ext uri="{FF2B5EF4-FFF2-40B4-BE49-F238E27FC236}">
                <a16:creationId xmlns:a16="http://schemas.microsoft.com/office/drawing/2014/main" id="{1568B33E-6703-7010-1019-FCEC9039D4C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6" y="1885788"/>
            <a:ext cx="2157530" cy="1230024"/>
          </a:xfrm>
          <a:prstGeom prst="rect">
            <a:avLst/>
          </a:prstGeom>
        </p:spPr>
      </p:pic>
      <p:pic>
        <p:nvPicPr>
          <p:cNvPr id="8" name="Picture 7" descr="A red plastic case with black text&#10;&#10;AI-generated content may be incorrect.">
            <a:extLst>
              <a:ext uri="{FF2B5EF4-FFF2-40B4-BE49-F238E27FC236}">
                <a16:creationId xmlns:a16="http://schemas.microsoft.com/office/drawing/2014/main" id="{5A0A5A20-A468-E52A-A464-87DB9B6EA0D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533" y="1755618"/>
            <a:ext cx="2564084" cy="13601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306857-7760-4041-ABA2-59BC1E6180BA}"/>
              </a:ext>
            </a:extLst>
          </p:cNvPr>
          <p:cNvSpPr txBox="1"/>
          <p:nvPr/>
        </p:nvSpPr>
        <p:spPr>
          <a:xfrm>
            <a:off x="159615" y="3115812"/>
            <a:ext cx="217351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GB" b="1" dirty="0"/>
              <a:t>Heating Element</a:t>
            </a:r>
          </a:p>
          <a:p>
            <a:r>
              <a:rPr lang="en-GB" dirty="0"/>
              <a:t>(Copper Wire + Foil) will be placed in cavity</a:t>
            </a:r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CB9B86A6-C0B9-D295-9FF5-4DD622B6C001}"/>
              </a:ext>
            </a:extLst>
          </p:cNvPr>
          <p:cNvSpPr/>
          <p:nvPr/>
        </p:nvSpPr>
        <p:spPr>
          <a:xfrm>
            <a:off x="2431681" y="2412934"/>
            <a:ext cx="389467" cy="435531"/>
          </a:xfrm>
          <a:prstGeom prst="mathPlu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Equals 15">
            <a:extLst>
              <a:ext uri="{FF2B5EF4-FFF2-40B4-BE49-F238E27FC236}">
                <a16:creationId xmlns:a16="http://schemas.microsoft.com/office/drawing/2014/main" id="{96C8057A-4C10-BA20-480D-77509261C8B3}"/>
              </a:ext>
            </a:extLst>
          </p:cNvPr>
          <p:cNvSpPr/>
          <p:nvPr/>
        </p:nvSpPr>
        <p:spPr>
          <a:xfrm>
            <a:off x="5398789" y="2434772"/>
            <a:ext cx="514920" cy="340761"/>
          </a:xfrm>
          <a:prstGeom prst="mathEqual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11DB71-FA52-3100-40C4-10750AC2B646}"/>
              </a:ext>
            </a:extLst>
          </p:cNvPr>
          <p:cNvSpPr txBox="1"/>
          <p:nvPr/>
        </p:nvSpPr>
        <p:spPr>
          <a:xfrm>
            <a:off x="6259326" y="5379479"/>
            <a:ext cx="262564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GB" b="1" dirty="0"/>
              <a:t>Radome Cover Part</a:t>
            </a:r>
          </a:p>
          <a:p>
            <a:r>
              <a:rPr lang="en-GB" dirty="0"/>
              <a:t>Will be snapped on LWR Grill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B013AF-75ED-481B-087F-E6B90DB3ECFF}"/>
              </a:ext>
            </a:extLst>
          </p:cNvPr>
          <p:cNvSpPr txBox="1"/>
          <p:nvPr/>
        </p:nvSpPr>
        <p:spPr>
          <a:xfrm>
            <a:off x="-43808" y="6074568"/>
            <a:ext cx="613980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US" sz="1600" dirty="0"/>
              <a:t>Here it’s a combination of Over Moulding &amp; 2K Moulding to keep the heating element in the middle of Radome Cover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28517-6E1F-DD64-6753-AD9383216D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808" y="1885788"/>
            <a:ext cx="2330295" cy="13601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60AC9D-0B07-FE33-988A-9806F55B377F}"/>
              </a:ext>
            </a:extLst>
          </p:cNvPr>
          <p:cNvSpPr txBox="1"/>
          <p:nvPr/>
        </p:nvSpPr>
        <p:spPr>
          <a:xfrm>
            <a:off x="8635669" y="2267701"/>
            <a:ext cx="355633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STAGE :: 1  (Over Moulding + 2K 1</a:t>
            </a:r>
            <a:r>
              <a:rPr lang="en-GB" b="1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</a:t>
            </a:r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Half)</a:t>
            </a:r>
            <a:endParaRPr lang="en-GB" b="1" dirty="0"/>
          </a:p>
          <a:p>
            <a:r>
              <a:rPr lang="en-GB" dirty="0"/>
              <a:t>Radome </a:t>
            </a:r>
            <a:r>
              <a:rPr lang="en-GB" dirty="0" err="1"/>
              <a:t>Cover_MTG</a:t>
            </a:r>
            <a:r>
              <a:rPr lang="en-GB" dirty="0"/>
              <a:t>/Technical Portion </a:t>
            </a:r>
          </a:p>
          <a:p>
            <a:r>
              <a:rPr lang="en-GB" dirty="0"/>
              <a:t>Material :: PC+ABS</a:t>
            </a:r>
          </a:p>
          <a:p>
            <a:r>
              <a:rPr lang="en-GB" dirty="0"/>
              <a:t>Heating Element will be over moulded in the 2K moulding 1</a:t>
            </a:r>
            <a:r>
              <a:rPr lang="en-GB" baseline="30000" dirty="0"/>
              <a:t>st</a:t>
            </a:r>
            <a:r>
              <a:rPr lang="en-GB" dirty="0"/>
              <a:t> stage.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AD4373-CA7A-C728-9245-310A8D6EFA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17" y="4009536"/>
            <a:ext cx="2330295" cy="1360194"/>
          </a:xfrm>
          <a:prstGeom prst="rect">
            <a:avLst/>
          </a:prstGeom>
        </p:spPr>
      </p:pic>
      <p:sp>
        <p:nvSpPr>
          <p:cNvPr id="18" name="Plus Sign 17">
            <a:extLst>
              <a:ext uri="{FF2B5EF4-FFF2-40B4-BE49-F238E27FC236}">
                <a16:creationId xmlns:a16="http://schemas.microsoft.com/office/drawing/2014/main" id="{2C586C29-5013-8D7A-901D-C2B8395E69B4}"/>
              </a:ext>
            </a:extLst>
          </p:cNvPr>
          <p:cNvSpPr/>
          <p:nvPr/>
        </p:nvSpPr>
        <p:spPr>
          <a:xfrm>
            <a:off x="2738799" y="4708873"/>
            <a:ext cx="389467" cy="435531"/>
          </a:xfrm>
          <a:prstGeom prst="mathPlu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A green rectangular object with a hole&#10;&#10;AI-generated content may be incorrect.">
            <a:extLst>
              <a:ext uri="{FF2B5EF4-FFF2-40B4-BE49-F238E27FC236}">
                <a16:creationId xmlns:a16="http://schemas.microsoft.com/office/drawing/2014/main" id="{0983A6CF-6F51-657A-BD88-F50361B38C9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26" y="3985056"/>
            <a:ext cx="2260474" cy="1338604"/>
          </a:xfrm>
          <a:prstGeom prst="rect">
            <a:avLst/>
          </a:prstGeom>
        </p:spPr>
      </p:pic>
      <p:sp>
        <p:nvSpPr>
          <p:cNvPr id="25" name="Equals 24">
            <a:extLst>
              <a:ext uri="{FF2B5EF4-FFF2-40B4-BE49-F238E27FC236}">
                <a16:creationId xmlns:a16="http://schemas.microsoft.com/office/drawing/2014/main" id="{C0D4DDC9-B9DA-B927-B2DB-8F8FED397CA1}"/>
              </a:ext>
            </a:extLst>
          </p:cNvPr>
          <p:cNvSpPr/>
          <p:nvPr/>
        </p:nvSpPr>
        <p:spPr>
          <a:xfrm>
            <a:off x="5656249" y="4714374"/>
            <a:ext cx="514920" cy="340761"/>
          </a:xfrm>
          <a:prstGeom prst="mathEqual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7" name="Picture 26" descr="A green rectangular object with a hole&#10;&#10;AI-generated content may be incorrect.">
            <a:extLst>
              <a:ext uri="{FF2B5EF4-FFF2-40B4-BE49-F238E27FC236}">
                <a16:creationId xmlns:a16="http://schemas.microsoft.com/office/drawing/2014/main" id="{4D35B981-D944-B478-AC07-69BE18110BA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335" y="4009536"/>
            <a:ext cx="2452107" cy="136994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EC78D6E-B8F7-5291-6474-9009FE62D4C3}"/>
              </a:ext>
            </a:extLst>
          </p:cNvPr>
          <p:cNvSpPr txBox="1"/>
          <p:nvPr/>
        </p:nvSpPr>
        <p:spPr>
          <a:xfrm>
            <a:off x="8635669" y="4469255"/>
            <a:ext cx="355633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 b="0"/>
            </a:lvl1pPr>
          </a:lstStyle>
          <a:p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STAGE :: 2 (2K Moulding 2</a:t>
            </a:r>
            <a:r>
              <a:rPr lang="en-GB" b="1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nd</a:t>
            </a:r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Half)</a:t>
            </a:r>
            <a:endParaRPr lang="en-GB" b="1" dirty="0"/>
          </a:p>
          <a:p>
            <a:r>
              <a:rPr lang="en-GB" dirty="0"/>
              <a:t>Radome </a:t>
            </a:r>
            <a:r>
              <a:rPr lang="en-GB" dirty="0" err="1"/>
              <a:t>Cover_Aesthetical</a:t>
            </a:r>
            <a:r>
              <a:rPr lang="en-GB" dirty="0"/>
              <a:t>/style Portion</a:t>
            </a:r>
          </a:p>
          <a:p>
            <a:r>
              <a:rPr lang="en-GB" dirty="0"/>
              <a:t>Material :: PC+ABS</a:t>
            </a:r>
            <a:endParaRPr lang="en-GB" b="1" dirty="0"/>
          </a:p>
          <a:p>
            <a:r>
              <a:rPr lang="en-GB" dirty="0"/>
              <a:t>will be moulded in the 2K moulding 2</a:t>
            </a:r>
            <a:r>
              <a:rPr lang="en-GB" baseline="30000" dirty="0"/>
              <a:t>nd</a:t>
            </a:r>
            <a:r>
              <a:rPr lang="en-GB" dirty="0"/>
              <a:t> stage.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732F56B-C432-1BE6-6783-5DAB008DB69B}"/>
              </a:ext>
            </a:extLst>
          </p:cNvPr>
          <p:cNvCxnSpPr/>
          <p:nvPr/>
        </p:nvCxnSpPr>
        <p:spPr>
          <a:xfrm>
            <a:off x="0" y="38862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249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EE5B-5F36-7AB1-E114-F47CD224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2K Moulding Process :: Reference</a:t>
            </a:r>
            <a:endParaRPr lang="en-GB" dirty="0"/>
          </a:p>
        </p:txBody>
      </p:sp>
      <p:pic>
        <p:nvPicPr>
          <p:cNvPr id="4" name="Picture 3" descr="A diagram of a wire connection&#10;&#10;AI-generated content may be incorrect.">
            <a:extLst>
              <a:ext uri="{FF2B5EF4-FFF2-40B4-BE49-F238E27FC236}">
                <a16:creationId xmlns:a16="http://schemas.microsoft.com/office/drawing/2014/main" id="{AC6C091F-8C60-EC7E-09BE-FE3223B60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17" y="2129157"/>
            <a:ext cx="8224955" cy="3187909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D079C71D-0BA6-BED1-B180-B216A97F5FD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421471" y="1861151"/>
            <a:ext cx="118531" cy="1237649"/>
          </a:xfrm>
          <a:prstGeom prst="bentConnector2">
            <a:avLst/>
          </a:prstGeom>
          <a:ln w="15875">
            <a:solidFill>
              <a:srgbClr val="C74EFF"/>
            </a:solidFill>
            <a:prstDash val="sysDash"/>
            <a:headEnd type="none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9699A6-AE70-ACF4-01CE-D7A527635E22}"/>
              </a:ext>
            </a:extLst>
          </p:cNvPr>
          <p:cNvSpPr txBox="1"/>
          <p:nvPr/>
        </p:nvSpPr>
        <p:spPr>
          <a:xfrm>
            <a:off x="1159932" y="1661096"/>
            <a:ext cx="1261539" cy="40011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 dirty="0"/>
              <a:t>180Deg Rotating Core Half</a:t>
            </a:r>
            <a:endParaRPr lang="en-GB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0E44846-0E0C-39A7-7ADF-38DA2EFC2DC6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3890939" y="2487903"/>
            <a:ext cx="1199208" cy="191921"/>
          </a:xfrm>
          <a:prstGeom prst="bentConnector3">
            <a:avLst>
              <a:gd name="adj1" fmla="val 15405"/>
            </a:avLst>
          </a:prstGeom>
          <a:ln w="15875">
            <a:solidFill>
              <a:srgbClr val="C74EFF"/>
            </a:solidFill>
            <a:prstDash val="sysDash"/>
            <a:headEnd type="none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1B7B0DD-6A4C-141B-F768-7D6220D562FD}"/>
              </a:ext>
            </a:extLst>
          </p:cNvPr>
          <p:cNvSpPr txBox="1"/>
          <p:nvPr/>
        </p:nvSpPr>
        <p:spPr>
          <a:xfrm>
            <a:off x="3847892" y="1738038"/>
            <a:ext cx="1477221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Moulding Cavity</a:t>
            </a:r>
            <a:endParaRPr lang="en-GB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80A8C25-3E8D-C830-0F85-FBAFA49E923E}"/>
              </a:ext>
            </a:extLst>
          </p:cNvPr>
          <p:cNvCxnSpPr>
            <a:cxnSpLocks/>
            <a:stCxn id="22" idx="0"/>
          </p:cNvCxnSpPr>
          <p:nvPr/>
        </p:nvCxnSpPr>
        <p:spPr>
          <a:xfrm rot="5400000" flipH="1" flipV="1">
            <a:off x="3455298" y="4781637"/>
            <a:ext cx="1131605" cy="475266"/>
          </a:xfrm>
          <a:prstGeom prst="bentConnector3">
            <a:avLst>
              <a:gd name="adj1" fmla="val 38029"/>
            </a:avLst>
          </a:prstGeom>
          <a:ln w="15875">
            <a:solidFill>
              <a:srgbClr val="C74EFF"/>
            </a:solidFill>
            <a:prstDash val="sysDash"/>
            <a:headEnd type="none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0203C3-B7E9-5B8A-CE63-682968E9138D}"/>
              </a:ext>
            </a:extLst>
          </p:cNvPr>
          <p:cNvSpPr txBox="1"/>
          <p:nvPr/>
        </p:nvSpPr>
        <p:spPr>
          <a:xfrm>
            <a:off x="3044856" y="5585072"/>
            <a:ext cx="1477221" cy="24622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Moulding Cavity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9983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964336"/>
      </p:ext>
    </p:extLst>
  </p:cSld>
  <p:clrMapOvr>
    <a:masterClrMapping/>
  </p:clrMapOvr>
</p:sld>
</file>

<file path=ppt/theme/theme1.xml><?xml version="1.0" encoding="utf-8"?>
<a:theme xmlns:a="http://schemas.openxmlformats.org/drawingml/2006/main" name=" TATA Automotive">
  <a:themeElements>
    <a:clrScheme name="Custom 22">
      <a:dk1>
        <a:srgbClr val="000000"/>
      </a:dk1>
      <a:lt1>
        <a:srgbClr val="FFFFFF"/>
      </a:lt1>
      <a:dk2>
        <a:srgbClr val="002B37"/>
      </a:dk2>
      <a:lt2>
        <a:srgbClr val="5FEC70"/>
      </a:lt2>
      <a:accent1>
        <a:srgbClr val="12C6B3"/>
      </a:accent1>
      <a:accent2>
        <a:srgbClr val="0000B3"/>
      </a:accent2>
      <a:accent3>
        <a:srgbClr val="41E3E6"/>
      </a:accent3>
      <a:accent4>
        <a:srgbClr val="370634"/>
      </a:accent4>
      <a:accent5>
        <a:srgbClr val="FF9C00"/>
      </a:accent5>
      <a:accent6>
        <a:srgbClr val="0F1F71"/>
      </a:accent6>
      <a:hlink>
        <a:srgbClr val="FFFFFF"/>
      </a:hlink>
      <a:folHlink>
        <a:srgbClr val="12C6B3"/>
      </a:folHlink>
    </a:clrScheme>
    <a:fontScheme name="TAT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DD8CF34A770347AE8EAE4A29C2847B" ma:contentTypeVersion="11" ma:contentTypeDescription="Create a new document." ma:contentTypeScope="" ma:versionID="33890d08b77cd0837e193fbe2a2fd285">
  <xsd:schema xmlns:xsd="http://www.w3.org/2001/XMLSchema" xmlns:xs="http://www.w3.org/2001/XMLSchema" xmlns:p="http://schemas.microsoft.com/office/2006/metadata/properties" xmlns:ns2="fcf13d84-3384-403b-99eb-3fb4a100b81c" xmlns:ns3="4220ea3a-ae5d-4c2d-a740-8066a1e3f119" targetNamespace="http://schemas.microsoft.com/office/2006/metadata/properties" ma:root="true" ma:fieldsID="6c4986187ecf65430ba276a9b4e4a877" ns2:_="" ns3:_="">
    <xsd:import namespace="fcf13d84-3384-403b-99eb-3fb4a100b81c"/>
    <xsd:import namespace="4220ea3a-ae5d-4c2d-a740-8066a1e3f1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13d84-3384-403b-99eb-3fb4a100b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11f8b2a-cd79-47dd-889c-3fa2f18623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0ea3a-ae5d-4c2d-a740-8066a1e3f11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3a84a62-0663-4be7-9ffd-62a4213cf290}" ma:internalName="TaxCatchAll" ma:showField="CatchAllData" ma:web="4220ea3a-ae5d-4c2d-a740-8066a1e3f1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20ea3a-ae5d-4c2d-a740-8066a1e3f119" xsi:nil="true"/>
    <lcf76f155ced4ddcb4097134ff3c332f xmlns="fcf13d84-3384-403b-99eb-3fb4a100b81c">
      <Terms xmlns="http://schemas.microsoft.com/office/infopath/2007/PartnerControls"/>
    </lcf76f155ced4ddcb4097134ff3c332f>
  </documentManagement>
</p:properties>
</file>

<file path=customXml/item3.xml><?xml version="1.0" encoding="utf-8"?>
<titus xmlns="http://schemas.titus.com/TitusProperties/">
  <TitusGUID xmlns="">38f2ba98-9cdd-4efc-97e1-9aa1a626f873</TitusGUID>
  <TitusMetadata xmlns="">eyJucyI6Imh0dHA6XC9cL3d3dy50aXR1cy5jb21cL25zXC9UVExUSVRVUyIsInByb3BzIjpbeyJuIjoiQ2xhc3NpZmljYXRpb24iLCJ2YWxzIjpbeyJ2YWx1ZSI6IkludGVybmFsIn1dfSx7Im4iOiJEaXN0cmlidXRpb24iLCJ2YWxzIjpbeyJ2YWx1ZSI6IkludGVybmFsIn1dfV19</TitusMetadata>
</titu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E3D0CA-5928-4BFB-A3DD-A1FB2F1D08BC}"/>
</file>

<file path=customXml/itemProps2.xml><?xml version="1.0" encoding="utf-8"?>
<ds:datastoreItem xmlns:ds="http://schemas.openxmlformats.org/officeDocument/2006/customXml" ds:itemID="{F276904F-93CF-4C00-A1FE-A6E00858F4F9}">
  <ds:schemaRefs>
    <ds:schemaRef ds:uri="http://schemas.microsoft.com/office/2006/documentManagement/types"/>
    <ds:schemaRef ds:uri="http://www.w3.org/XML/1998/namespace"/>
    <ds:schemaRef ds:uri="fcf13d84-3384-403b-99eb-3fb4a100b81c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4220ea3a-ae5d-4c2d-a740-8066a1e3f119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FE94C73-ECBC-418F-AF97-2C2912CBA8E7}">
  <ds:schemaRefs>
    <ds:schemaRef ds:uri=""/>
    <ds:schemaRef ds:uri="http://schemas.titus.com/TitusProperties/"/>
  </ds:schemaRefs>
</ds:datastoreItem>
</file>

<file path=customXml/itemProps4.xml><?xml version="1.0" encoding="utf-8"?>
<ds:datastoreItem xmlns:ds="http://schemas.openxmlformats.org/officeDocument/2006/customXml" ds:itemID="{4B226559-0416-445D-A089-00AF682052E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b9d7760-63d7-4f88-9927-fabe446e2362}" enabled="0" method="" siteId="{db9d7760-63d7-4f88-9927-fabe446e236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Widescreen</PresentationFormat>
  <Paragraphs>118</Paragraphs>
  <Slides>13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 TATA Automotive</vt:lpstr>
      <vt:lpstr>JLR VPD EDS  Heating Element  (FY 2025-26)</vt:lpstr>
      <vt:lpstr>Change history</vt:lpstr>
      <vt:lpstr>Concept</vt:lpstr>
      <vt:lpstr>Concept</vt:lpstr>
      <vt:lpstr>Heating element :: Packaging Requirements</vt:lpstr>
      <vt:lpstr>Heating element :: Packaging Requirements / reference</vt:lpstr>
      <vt:lpstr>Heating element :: Packaging Requirements</vt:lpstr>
      <vt:lpstr>Heating element :: Packaging Requirements / reference</vt:lpstr>
      <vt:lpstr>Assembly Flight Path: </vt:lpstr>
      <vt:lpstr>Heating element :: Manufacturing Process</vt:lpstr>
      <vt:lpstr>Heating element :: Moulding Process</vt:lpstr>
      <vt:lpstr>2K Moulding Process :: 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Bigger Better Bolder Corporate PowerPoint template</dc:title>
  <dc:creator>JIRINA KUBESOVA</dc:creator>
  <cp:lastModifiedBy>Vyshak P V</cp:lastModifiedBy>
  <cp:revision>2</cp:revision>
  <dcterms:created xsi:type="dcterms:W3CDTF">2022-08-22T07:25:32Z</dcterms:created>
  <dcterms:modified xsi:type="dcterms:W3CDTF">2026-01-19T05:34:27Z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roup">
    <vt:lpwstr>CN=AzureAD_LinkedIn Learning,OU=Security Groups,OU=APAC,OU=All Groups,DC=tatatechnologies,DC=com;CN=AzureAD_CA_2FA_Prod,OU=Security Groups,OU=APAC,OU=All Groups,DC=tatatechnologies,DC=com;CN=AzureAD_SSPR_Prod,OU=Security Groups,OU=APAC,OU=All Groups,DC=ta</vt:lpwstr>
  </property>
  <property fmtid="{D5CDD505-2E9C-101B-9397-08002B2CF9AE}" pid="3" name="OriginalClassifier">
    <vt:lpwstr>stt919621</vt:lpwstr>
  </property>
  <property fmtid="{D5CDD505-2E9C-101B-9397-08002B2CF9AE}" pid="4" name="Classification">
    <vt:lpwstr>Internal</vt:lpwstr>
  </property>
  <property fmtid="{D5CDD505-2E9C-101B-9397-08002B2CF9AE}" pid="5" name="Distribution">
    <vt:lpwstr>Internal</vt:lpwstr>
  </property>
  <property fmtid="{D5CDD505-2E9C-101B-9397-08002B2CF9AE}" pid="6" name="TitusGUID">
    <vt:lpwstr>38f2ba98-9cdd-4efc-97e1-9aa1a626f873</vt:lpwstr>
  </property>
  <property fmtid="{D5CDD505-2E9C-101B-9397-08002B2CF9AE}" pid="7" name="ContentTypeId">
    <vt:lpwstr>0x0101003BDD8CF34A770347AE8EAE4A29C2847B</vt:lpwstr>
  </property>
  <property fmtid="{D5CDD505-2E9C-101B-9397-08002B2CF9AE}" pid="8" name="MediaServiceImageTags">
    <vt:lpwstr/>
  </property>
  <property fmtid="{D5CDD505-2E9C-101B-9397-08002B2CF9AE}" pid="9" name="Audience">
    <vt:lpwstr>37;#OK to Share Externally|5ab5c593-923d-4ecc-9737-8ac78d623249</vt:lpwstr>
  </property>
  <property fmtid="{D5CDD505-2E9C-101B-9397-08002B2CF9AE}" pid="10" name="_dlc_DocIdItemGuid">
    <vt:lpwstr>a77fc46e-1005-406a-80c1-8d6ca43ebb33</vt:lpwstr>
  </property>
  <property fmtid="{D5CDD505-2E9C-101B-9397-08002B2CF9AE}" pid="11" name="Geography">
    <vt:lpwstr>14;#All|4ffb0be0-9032-40be-a5ac-35d9b213aeb2</vt:lpwstr>
  </property>
  <property fmtid="{D5CDD505-2E9C-101B-9397-08002B2CF9AE}" pid="12" name="Line of Service">
    <vt:lpwstr/>
  </property>
  <property fmtid="{D5CDD505-2E9C-101B-9397-08002B2CF9AE}" pid="13" name="Theme">
    <vt:lpwstr/>
  </property>
  <property fmtid="{D5CDD505-2E9C-101B-9397-08002B2CF9AE}" pid="14" name="Resource_x0020_Type">
    <vt:lpwstr>174;#Brand Assets|0bb50529-7adb-40f8-b1c6-cef3bd16b9f0</vt:lpwstr>
  </property>
  <property fmtid="{D5CDD505-2E9C-101B-9397-08002B2CF9AE}" pid="15" name="Persona">
    <vt:lpwstr/>
  </property>
  <property fmtid="{D5CDD505-2E9C-101B-9397-08002B2CF9AE}" pid="16" name="Industry">
    <vt:lpwstr/>
  </property>
  <property fmtid="{D5CDD505-2E9C-101B-9397-08002B2CF9AE}" pid="17" name="Line_x0020_of_x0020_Service">
    <vt:lpwstr/>
  </property>
  <property fmtid="{D5CDD505-2E9C-101B-9397-08002B2CF9AE}" pid="18" name="Resource Type">
    <vt:lpwstr>174;#Brand Assets|0bb50529-7adb-40f8-b1c6-cef3bd16b9f0</vt:lpwstr>
  </property>
  <property fmtid="{D5CDD505-2E9C-101B-9397-08002B2CF9AE}" pid="19" name="MSIP_Label_b35dd2f9-0228-4a41-bd84-e4d7747ff288_Removed">
    <vt:lpwstr>False</vt:lpwstr>
  </property>
  <property fmtid="{D5CDD505-2E9C-101B-9397-08002B2CF9AE}" pid="20" name="MSIP_Label_b35dd2f9-0228-4a41-bd84-e4d7747ff288_ActionId">
    <vt:lpwstr>2dcbe85b-9728-4a2d-a633-5381321f4818</vt:lpwstr>
  </property>
  <property fmtid="{D5CDD505-2E9C-101B-9397-08002B2CF9AE}" pid="21" name="MSIP_Label_b35dd2f9-0228-4a41-bd84-e4d7747ff288_Name">
    <vt:lpwstr>Secret</vt:lpwstr>
  </property>
  <property fmtid="{D5CDD505-2E9C-101B-9397-08002B2CF9AE}" pid="22" name="MSIP_Label_b35dd2f9-0228-4a41-bd84-e4d7747ff288_SetDate">
    <vt:lpwstr>2025-12-17T04:08:10Z</vt:lpwstr>
  </property>
  <property fmtid="{D5CDD505-2E9C-101B-9397-08002B2CF9AE}" pid="23" name="MSIP_Label_b35dd2f9-0228-4a41-bd84-e4d7747ff288_SiteId">
    <vt:lpwstr>4c087f80-1e07-4f72-9e41-d7d9748d0f4c</vt:lpwstr>
  </property>
  <property fmtid="{D5CDD505-2E9C-101B-9397-08002B2CF9AE}" pid="24" name="MSIP_Label_b35dd2f9-0228-4a41-bd84-e4d7747ff288_Enabled">
    <vt:lpwstr>True</vt:lpwstr>
  </property>
  <property fmtid="{D5CDD505-2E9C-101B-9397-08002B2CF9AE}" pid="25" name="MSIP_Label_b35dd2f9-0228-4a41-bd84-e4d7747ff288_Extended_MSFT_Method">
    <vt:lpwstr>Standard</vt:lpwstr>
  </property>
  <property fmtid="{D5CDD505-2E9C-101B-9397-08002B2CF9AE}" pid="26" name="Sensitivity">
    <vt:lpwstr>Secret</vt:lpwstr>
  </property>
</Properties>
</file>